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Introduciamo PeritoAI, l'assistente tecnico e giudiziario on-device per il Studio Tecnico Restelli &amp; Partner. Questo innovative strumento offre una combinaione di tecnologia e rigoroso approccio forense per automatizzare i processi di analisi e migliorare l'efficienza del lavoro. Sfortunatamente, la stringa generata non si completa a causa di limitazioni di caratteri, ma l'idea generale è quella di evidenziare i punti chiave di PeritoAI.</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Iniziamo con una presentazione della visione e dei problemi chiave. I sopralluoghi complessi richiedono l'uso di soluzioni efficaci. Le scadenze tribunali devono essere gestite con precisione. E infine, è fondamentale proteggere i documenti dalle fughe di dati. Queste sfide sono importanti da sottolineare in quanto determinano la successo del nostro progetto.</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Sviluppo del slide n. 3 che elenca le risorse realizzate dalla voce reale del cantierismo, tra cui registrazioni audio HD, trascrizioni in tempo reale e estrazione degli impegni. Invito esplicito alla comunicazione di contatti via email.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In questa presentazione, vengono trattati gli aspetti chiave dell'Agenda Intelligente e dei conflitti rilevati. La prima icona rappresenta l'integrazione del rilevamento di sovrapposizioni orarie, assicurando un'efficace programmazione. La seconda icona gestisce i promemoria salva-udienza per prevenire ritardi con notifiche a 30 minuti, 60 minuti e 24 ore. In seguito, presenteremo i dettagli delle funzionalità e perché siano cruciali per la gestione efficace dell'agenda.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Ecco una panoramica delle 6 cartelle organizzate per tipologia documentale, che facilitano la gestione delle vari tipi di documenti. Questo strumento supporta sia la tracciabilità che l'efficienza nell'elaborazione e archiviazione dei documenti.
Ricorda che il feedback e le modifiche sono sempre ben accetti per migliorare la presentazione.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Questa slide illustra i principali vantaggi della scansione automatica dei documenti e della tecnologia OCR anti-riflessi. Spieghiamo rapidamente come il sito consente una rapida acquisizione e elaborazione dei documenti, includendo la firma digitale sicura, e forniamo indicazioni sui benefici e i tempi di elaborazione.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Ecco un riepilogo delle ragioni di sfondo relative alla continuazione dell'elaborazione, a notificare la risposta pronta e a mantenere lo schermo spento. Queste informazioni sono fondamentali per comprensione dell'operato del sistema durante gli stati specifici. La rappresentazione grafica evidenzia l'importanza di ciascuna funzione con un tiro di priorità distincto.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2.png"/><Relationship Id="rId4" Type="http://schemas.openxmlformats.org/officeDocument/2006/relationships/image" Target="../media/Presenton_Native_Image_3.png"/><Relationship Id="rId5" Type="http://schemas.openxmlformats.org/officeDocument/2006/relationships/image" Target="../media/Presenton_Native_Image_4.png"/><Relationship Id="rId7" Type="http://schemas.openxmlformats.org/officeDocument/2006/relationships/notesSlide" Target="../notesSlides/notesSlide1.xml"/><Relationship Id="rId8" Type="http://schemas.openxmlformats.org/officeDocument/2006/relationships/image" Target="../media/presenton-native-svg-1-1.svg"/><Relationship Id="rId9" Type="http://schemas.openxmlformats.org/officeDocument/2006/relationships/image" Target="../media/presenton-native-svg-2-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7.png"/><Relationship Id="rId5" Type="http://schemas.openxmlformats.org/officeDocument/2006/relationships/image" Target="../media/Presenton_Native_Image_9.png"/><Relationship Id="rId6" Type="http://schemas.openxmlformats.org/officeDocument/2006/relationships/image" Target="../media/Presenton_Native_Image_11.png"/><Relationship Id="rId7" Type="http://schemas.openxmlformats.org/officeDocument/2006/relationships/notesSlide" Target="../notesSlides/notesSlide2.xml"/><Relationship Id="rId8" Type="http://schemas.openxmlformats.org/officeDocument/2006/relationships/image" Target="../media/presenton-native-svg-3-2.svg"/><Relationship Id="rId9" Type="http://schemas.openxmlformats.org/officeDocument/2006/relationships/image" Target="../media/presenton-native-svg-4-2.svg"/><Relationship Id="rId10" Type="http://schemas.openxmlformats.org/officeDocument/2006/relationships/image" Target="../media/presenton-native-svg-5-2.svg"/><Relationship Id="rId11" Type="http://schemas.openxmlformats.org/officeDocument/2006/relationships/image" Target="../media/presenton-native-svg-6-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14.png"/><Relationship Id="rId4" Type="http://schemas.openxmlformats.org/officeDocument/2006/relationships/image" Target="../media/Presenton_Native_Image_15.png"/><Relationship Id="rId5" Type="http://schemas.openxmlformats.org/officeDocument/2006/relationships/image" Target="../media/Presenton_Native_Image_16.png"/><Relationship Id="rId6" Type="http://schemas.openxmlformats.org/officeDocument/2006/relationships/image" Target="../media/Presenton_Native_Image_17.png"/><Relationship Id="rId7" Type="http://schemas.openxmlformats.org/officeDocument/2006/relationships/notesSlide" Target="../notesSlides/notesSlide3.xml"/><Relationship Id="rId8" Type="http://schemas.openxmlformats.org/officeDocument/2006/relationships/image" Target="../media/presenton-native-svg-7-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19.png"/><Relationship Id="rId7" Type="http://schemas.openxmlformats.org/officeDocument/2006/relationships/image" Target="../media/Presenton_Native_Image_23.png"/><Relationship Id="rId10" Type="http://schemas.openxmlformats.org/officeDocument/2006/relationships/image" Target="../media/Presenton_Native_Image_26.png"/><Relationship Id="rId11" Type="http://schemas.openxmlformats.org/officeDocument/2006/relationships/notesSlide" Target="../notesSlides/notesSlide4.xml"/><Relationship Id="rId12" Type="http://schemas.openxmlformats.org/officeDocument/2006/relationships/image" Target="../media/presenton-native-svg-8-4.svg"/><Relationship Id="rId13" Type="http://schemas.openxmlformats.org/officeDocument/2006/relationships/image" Target="../media/presenton-native-svg-9-4.svg"/><Relationship Id="rId14" Type="http://schemas.openxmlformats.org/officeDocument/2006/relationships/image" Target="../media/presenton-native-svg-10-4.svg"/><Relationship Id="rId15" Type="http://schemas.openxmlformats.org/officeDocument/2006/relationships/image" Target="../media/presenton-native-svg-11-4.svg"/><Relationship Id="rId16" Type="http://schemas.openxmlformats.org/officeDocument/2006/relationships/image" Target="../media/presenton-native-svg-12-4.svg"/><Relationship Id="rId17" Type="http://schemas.openxmlformats.org/officeDocument/2006/relationships/image" Target="../media/presenton-native-svg-13-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Native_Image_29.png"/><Relationship Id="rId6" Type="http://schemas.openxmlformats.org/officeDocument/2006/relationships/image" Target="../media/Presenton_Native_Image_31.png"/><Relationship Id="rId7" Type="http://schemas.openxmlformats.org/officeDocument/2006/relationships/notesSlide" Target="../notesSlides/notesSlide5.xml"/><Relationship Id="rId8" Type="http://schemas.openxmlformats.org/officeDocument/2006/relationships/image" Target="../media/presenton-native-svg-14-5.svg"/><Relationship Id="rId9" Type="http://schemas.openxmlformats.org/officeDocument/2006/relationships/image" Target="../media/presenton-native-svg-15-5.svg"/><Relationship Id="rId10" Type="http://schemas.openxmlformats.org/officeDocument/2006/relationships/image" Target="../media/presenton-native-svg-16-5.svg"/><Relationship Id="rId11" Type="http://schemas.openxmlformats.org/officeDocument/2006/relationships/image" Target="../media/presenton-native-svg-17-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4" Type="http://schemas.openxmlformats.org/officeDocument/2006/relationships/image" Target="../media/Presenton_Raster_Image_35.png"/><Relationship Id="rId8" Type="http://schemas.openxmlformats.org/officeDocument/2006/relationships/notesSlide" Target="../notesSlides/notesSlide6.xml"/><Relationship Id="rId9" Type="http://schemas.openxmlformats.org/officeDocument/2006/relationships/image" Target="../media/presenton-native-svg-18-6.svg"/><Relationship Id="rId10" Type="http://schemas.openxmlformats.org/officeDocument/2006/relationships/image" Target="../media/presenton-native-svg-19-6.svg"/><Relationship Id="rId11" Type="http://schemas.openxmlformats.org/officeDocument/2006/relationships/image" Target="../media/presenton-native-svg-20-6.svg"/><Relationship Id="rId12" Type="http://schemas.openxmlformats.org/officeDocument/2006/relationships/image" Target="../media/presenton-native-svg-21-6.svg"/><Relationship Id="rId13" Type="http://schemas.openxmlformats.org/officeDocument/2006/relationships/image" Target="../media/presenton-native-svg-2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40.png"/><Relationship Id="rId4" Type="http://schemas.openxmlformats.org/officeDocument/2006/relationships/image" Target="../media/Presenton_Native_Image_41.png"/><Relationship Id="rId5" Type="http://schemas.openxmlformats.org/officeDocument/2006/relationships/notesSlide" Target="../notesSlides/notesSlide7.xml"/><Relationship Id="rId6" Type="http://schemas.openxmlformats.org/officeDocument/2006/relationships/image" Target="../media/presenton-native-svg-23-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0" name="Presenton Native SVG Image 1" descr=""/>
          <p:cNvPicPr/>
          <p:nvPr/>
        </p:nvPicPr>
        <p:blipFill>
          <a:blip>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pic>
        <p:nvPicPr>
          <p:cNvPr id="101" name="Presenton Native Image 2" descr=""/>
          <p:cNvPicPr/>
          <p:nvPr/>
        </p:nvPicPr>
        <p:blipFill>
          <a:blip r:embed="rId3" cstate="none"/>
          <a:stretch>
            <a:fillRect/>
          </a:stretch>
        </p:blipFill>
        <p:spPr>
          <a:xfrm>
            <a:off x="0" y="2555825"/>
            <a:ext cx="12192000" cy="4302175"/>
          </a:xfrm>
          <a:prstGeom prst="rect">
            <a:avLst/>
          </a:prstGeom>
        </p:spPr>
      </p:pic>
      <p:pic>
        <p:nvPicPr>
          <p:cNvPr id="102" name="Presenton Native Image 3" descr=""/>
          <p:cNvPicPr/>
          <p:nvPr/>
        </p:nvPicPr>
        <p:blipFill>
          <a:blip r:embed="rId4" cstate="none"/>
          <a:stretch>
            <a:fillRect/>
          </a:stretch>
        </p:blipFill>
        <p:spPr>
          <a:xfrm>
            <a:off x="5553819" y="1156395"/>
            <a:ext cx="2323505" cy="3479006"/>
          </a:xfrm>
          <a:prstGeom prst="rect">
            <a:avLst/>
          </a:prstGeom>
        </p:spPr>
      </p:pic>
      <p:pic>
        <p:nvPicPr>
          <p:cNvPr id="103" name="Presenton Native Image 4" descr=""/>
          <p:cNvPicPr/>
          <p:nvPr/>
        </p:nvPicPr>
        <p:blipFill>
          <a:blip r:embed="rId5" cstate="none"/>
          <a:stretch>
            <a:fillRect/>
          </a:stretch>
        </p:blipFill>
        <p:spPr>
          <a:xfrm>
            <a:off x="8163074" y="1156395"/>
            <a:ext cx="4028926" cy="4558010"/>
          </a:xfrm>
          <a:prstGeom prst="rect">
            <a:avLst/>
          </a:prstGeom>
        </p:spPr>
      </p:pic>
      <p:pic>
        <p:nvPicPr>
          <p:cNvPr id="104" name="Presenton Native SVG Image 5" descr=""/>
          <p:cNvPicPr/>
          <p:nvPr/>
        </p:nvPicPr>
        <p:blipFill>
          <a:blip>
            <a:extLst>
              <a:ext uri="{96DAC541-7B7A-43D3-8B79-37D633B846F1}">
                <asvg:svgBlip xmlns:asvg="http://schemas.microsoft.com/office/drawing/2016/SVG/main" r:embed="rId9"/>
              </a:ext>
            </a:extLst>
          </a:blip>
          <a:stretch>
            <a:fillRect/>
          </a:stretch>
        </p:blipFill>
        <p:spPr>
          <a:xfrm>
            <a:off x="445294" y="4332684"/>
            <a:ext cx="7432030" cy="1839367"/>
          </a:xfrm>
          <a:prstGeom prst="rect">
            <a:avLst/>
          </a:prstGeom>
        </p:spPr>
      </p:pic>
      <p:sp>
        <p:nvSpPr>
          <p:cNvPr id="2" name="Shape 2"/>
          <p:cNvSpPr/>
          <p:nvPr/>
        </p:nvSpPr>
        <p:spPr>
          <a:xfrm>
            <a:off x="685800" y="4501753"/>
            <a:ext cx="4829919" cy="237083"/>
          </a:xfrm>
          <a:prstGeom prst="rect">
            <a:avLst/>
          </a:prstGeom>
          <a:noFill/>
        </p:spPr>
        <p:txBody>
          <a:bodyPr anchor="t" wrap="square" tIns="0" bIns="0" lIns="0" rIns="0">
            <a:normAutofit/>
          </a:bodyPr>
          <a:lstStyle/>
          <a:p>
            <a:pPr algn="l">
              <a:lnSpc>
                <a:spcPts val="1867"/>
              </a:lnSpc>
              <a:buNone/>
            </a:pPr>
            <a:r>
              <a:rPr sz="1334" b="1" i="0">
                <a:solidFill>
                  <a:srgbClr val="FFFFFF"/>
                </a:solidFill>
                <a:latin typeface="Poppins"/>
                <a:ea typeface="Poppins"/>
              </a:rPr>
              <a:t>PeritoAI: Sviluppo di Soluzioni di Prima</a:t>
            </a:r>
            <a:endParaRPr lang="en-US"/>
          </a:p>
        </p:txBody>
      </p:sp>
      <p:sp>
        <p:nvSpPr>
          <p:cNvPr id="3" name="Shape 3"/>
          <p:cNvSpPr/>
          <p:nvPr/>
        </p:nvSpPr>
        <p:spPr>
          <a:xfrm>
            <a:off x="550355" y="4910138"/>
            <a:ext cx="3381238" cy="209848"/>
          </a:xfrm>
          <a:prstGeom prst="rect">
            <a:avLst/>
          </a:prstGeom>
          <a:noFill/>
        </p:spPr>
        <p:txBody>
          <a:bodyPr anchor="t" wrap="square" tIns="0" bIns="0" lIns="0" rIns="0">
            <a:normAutofit/>
          </a:bodyPr>
          <a:lstStyle/>
          <a:p>
            <a:pPr algn="l" lvl="0" marL="285750" indent="-247650">
              <a:lnSpc>
                <a:spcPts val="1653"/>
              </a:lnSpc>
              <a:spcBef>
                <a:spcPts val="0"/>
              </a:spcBef>
              <a:spcAft>
                <a:spcPts val="0"/>
              </a:spcAft>
              <a:buClr>
                <a:srgbClr val="FFFFFF"/>
              </a:buClr>
              <a:buFont typeface="Arial" panose="020B0604020202020204" pitchFamily="34" charset="0"/>
              <a:buChar char="•"/>
            </a:pPr>
            <a:r>
              <a:rPr sz="1067" b="0" i="0">
                <a:solidFill>
                  <a:srgbClr val="FFFFFF"/>
                </a:solidFill>
                <a:latin typeface="Poppins"/>
                <a:ea typeface="Poppins"/>
              </a:rPr>
              <a:t>Innovazione e tecnologia</a:t>
            </a:r>
            <a:endParaRPr lang="en-US"/>
          </a:p>
        </p:txBody>
      </p:sp>
      <p:sp>
        <p:nvSpPr>
          <p:cNvPr id="4" name="Shape 4"/>
          <p:cNvSpPr/>
          <p:nvPr/>
        </p:nvSpPr>
        <p:spPr>
          <a:xfrm>
            <a:off x="4231767" y="4910138"/>
            <a:ext cx="3218867" cy="209848"/>
          </a:xfrm>
          <a:prstGeom prst="rect">
            <a:avLst/>
          </a:prstGeom>
          <a:noFill/>
        </p:spPr>
        <p:txBody>
          <a:bodyPr anchor="t" wrap="square" tIns="0" bIns="0" lIns="0" rIns="0">
            <a:normAutofit/>
          </a:bodyPr>
          <a:lstStyle/>
          <a:p>
            <a:pPr algn="l" lvl="0" marL="285750" indent="-247650">
              <a:lnSpc>
                <a:spcPts val="1653"/>
              </a:lnSpc>
              <a:spcBef>
                <a:spcPts val="0"/>
              </a:spcBef>
              <a:spcAft>
                <a:spcPts val="0"/>
              </a:spcAft>
              <a:buClr>
                <a:srgbClr val="FFFFFF"/>
              </a:buClr>
              <a:buFont typeface="Arial" panose="020B0604020202020204" pitchFamily="34" charset="0"/>
              <a:buChar char="•"/>
            </a:pPr>
            <a:r>
              <a:rPr sz="1067" b="0" i="0">
                <a:solidFill>
                  <a:srgbClr val="FFFFFF"/>
                </a:solidFill>
                <a:latin typeface="Poppins"/>
                <a:ea typeface="Poppins"/>
              </a:rPr>
              <a:t>Rigore forense senza compromessi</a:t>
            </a:r>
            <a:endParaRPr lang="en-US"/>
          </a:p>
        </p:txBody>
      </p:sp>
      <p:sp>
        <p:nvSpPr>
          <p:cNvPr id="5" name="Shape 5"/>
          <p:cNvSpPr/>
          <p:nvPr/>
        </p:nvSpPr>
        <p:spPr>
          <a:xfrm>
            <a:off x="550355" y="5249317"/>
            <a:ext cx="3243423" cy="209848"/>
          </a:xfrm>
          <a:prstGeom prst="rect">
            <a:avLst/>
          </a:prstGeom>
          <a:noFill/>
        </p:spPr>
        <p:txBody>
          <a:bodyPr anchor="t" wrap="square" tIns="0" bIns="0" lIns="0" rIns="0">
            <a:normAutofit/>
          </a:bodyPr>
          <a:lstStyle/>
          <a:p>
            <a:pPr algn="l" lvl="0" marL="285750" indent="-247650">
              <a:lnSpc>
                <a:spcPts val="1653"/>
              </a:lnSpc>
              <a:spcBef>
                <a:spcPts val="0"/>
              </a:spcBef>
              <a:spcAft>
                <a:spcPts val="0"/>
              </a:spcAft>
              <a:buClr>
                <a:srgbClr val="FFFFFF"/>
              </a:buClr>
              <a:buFont typeface="Arial" panose="020B0604020202020204" pitchFamily="34" charset="0"/>
              <a:buChar char="•"/>
            </a:pPr>
            <a:r>
              <a:rPr sz="1067" b="0" i="0">
                <a:solidFill>
                  <a:srgbClr val="FFFFFF"/>
                </a:solidFill>
                <a:latin typeface="Poppins"/>
                <a:ea typeface="Poppins"/>
              </a:rPr>
              <a:t>Automazione processi di analisi e验</a:t>
            </a:r>
            <a:endParaRPr lang="en-US"/>
          </a:p>
        </p:txBody>
      </p:sp>
      <p:sp>
        <p:nvSpPr>
          <p:cNvPr id="6" name="Shape 6"/>
          <p:cNvSpPr/>
          <p:nvPr/>
        </p:nvSpPr>
        <p:spPr>
          <a:xfrm>
            <a:off x="4231767" y="5249317"/>
            <a:ext cx="3381238" cy="209848"/>
          </a:xfrm>
          <a:prstGeom prst="rect">
            <a:avLst/>
          </a:prstGeom>
          <a:noFill/>
        </p:spPr>
        <p:txBody>
          <a:bodyPr anchor="t" wrap="square" tIns="0" bIns="0" lIns="0" rIns="0">
            <a:normAutofit/>
          </a:bodyPr>
          <a:lstStyle/>
          <a:p>
            <a:pPr algn="l" lvl="0" marL="285750" indent="-247650">
              <a:lnSpc>
                <a:spcPts val="1653"/>
              </a:lnSpc>
              <a:spcBef>
                <a:spcPts val="0"/>
              </a:spcBef>
              <a:spcAft>
                <a:spcPts val="0"/>
              </a:spcAft>
              <a:buClr>
                <a:srgbClr val="FFFFFF"/>
              </a:buClr>
              <a:buFont typeface="Arial" panose="020B0604020202020204" pitchFamily="34" charset="0"/>
              <a:buChar char="•"/>
            </a:pPr>
            <a:r>
              <a:rPr sz="1067" b="0" i="0">
                <a:solidFill>
                  <a:srgbClr val="FFFFFF"/>
                </a:solidFill>
                <a:latin typeface="Poppins"/>
                <a:ea typeface="Poppins"/>
              </a:rPr>
              <a:t>Sviluppo sostenibile e duraturo</a:t>
            </a:r>
            <a:endParaRPr lang="en-US"/>
          </a:p>
        </p:txBody>
      </p:sp>
      <p:sp>
        <p:nvSpPr>
          <p:cNvPr id="7" name="Shape 7"/>
          <p:cNvSpPr/>
          <p:nvPr/>
        </p:nvSpPr>
        <p:spPr>
          <a:xfrm>
            <a:off x="444401" y="2024211"/>
            <a:ext cx="7097911" cy="1447800"/>
          </a:xfrm>
          <a:prstGeom prst="rect">
            <a:avLst/>
          </a:prstGeom>
          <a:noFill/>
        </p:spPr>
        <p:txBody>
          <a:bodyPr anchor="t" wrap="square" tIns="0" bIns="0" lIns="0" rIns="0">
            <a:normAutofit/>
          </a:bodyPr>
          <a:lstStyle/>
          <a:p>
            <a:pPr algn="l">
              <a:lnSpc>
                <a:spcPts val="5700"/>
              </a:lnSpc>
              <a:buNone/>
            </a:pPr>
            <a:r>
              <a:rPr sz="6000" b="0" i="0" spc="0">
                <a:solidFill>
                  <a:srgbClr val="321A00"/>
                </a:solidFill>
                <a:latin typeface="Archivo Black"/>
                <a:ea typeface="Archivo Black"/>
              </a:rPr>
              <a:t xml:space="preserve">PeritoAI: Assistente Tecn. </a:t>
            </a:r>
            <a:endParaRPr lang="en-US"/>
          </a:p>
        </p:txBody>
      </p:sp>
      <p:sp>
        <p:nvSpPr>
          <p:cNvPr id="8" name="Shape 8"/>
          <p:cNvSpPr/>
          <p:nvPr/>
        </p:nvSpPr>
        <p:spPr>
          <a:xfrm>
            <a:off x="444401" y="410021"/>
            <a:ext cx="4704159" cy="213271"/>
          </a:xfrm>
          <a:prstGeom prst="rect">
            <a:avLst/>
          </a:prstGeom>
          <a:noFill/>
        </p:spPr>
        <p:txBody>
          <a:bodyPr anchor="t" wrap="square" tIns="0" bIns="0" lIns="0" rIns="0">
            <a:normAutofit/>
          </a:bodyPr>
          <a:lstStyle/>
          <a:p>
            <a:pPr algn="l">
              <a:lnSpc>
                <a:spcPts val="1680"/>
              </a:lnSpc>
              <a:buNone/>
            </a:pPr>
            <a:r>
              <a:rPr sz="1200" b="0" i="0">
                <a:solidFill>
                  <a:srgbClr val="321A00"/>
                </a:solidFill>
                <a:latin typeface="Poppins"/>
                <a:ea typeface="Poppins"/>
              </a:rPr>
              <a:t>Contattaci per ulteriori informazioni</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5" name="Presenton Native SVG Image 6" descr=""/>
          <p:cNvPicPr/>
          <p:nvPr/>
        </p:nvPicPr>
        <p:blipFill>
          <a:blip>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pic>
        <p:nvPicPr>
          <p:cNvPr id="106" name="Presenton Native Image 7" descr=""/>
          <p:cNvPicPr/>
          <p:nvPr/>
        </p:nvPicPr>
        <p:blipFill>
          <a:blip r:embed="rId3" cstate="none"/>
          <a:stretch>
            <a:fillRect/>
          </a:stretch>
        </p:blipFill>
        <p:spPr>
          <a:xfrm>
            <a:off x="444401" y="1405533"/>
            <a:ext cx="2600771" cy="2140744"/>
          </a:xfrm>
          <a:prstGeom prst="rect">
            <a:avLst/>
          </a:prstGeom>
        </p:spPr>
      </p:pic>
      <p:pic>
        <p:nvPicPr>
          <p:cNvPr id="107" name="Presenton Native SVG Image 8" descr=""/>
          <p:cNvPicPr/>
          <p:nvPr/>
        </p:nvPicPr>
        <p:blipFill>
          <a:blip>
            <a:extLst>
              <a:ext uri="{96DAC541-7B7A-43D3-8B79-37D633B846F1}">
                <asvg:svgBlip xmlns:asvg="http://schemas.microsoft.com/office/drawing/2016/SVG/main" r:embed="rId9"/>
              </a:ext>
            </a:extLst>
          </a:blip>
          <a:stretch>
            <a:fillRect/>
          </a:stretch>
        </p:blipFill>
        <p:spPr>
          <a:xfrm>
            <a:off x="451247" y="2995017"/>
            <a:ext cx="2587079" cy="1314301"/>
          </a:xfrm>
          <a:prstGeom prst="rect">
            <a:avLst/>
          </a:prstGeom>
        </p:spPr>
      </p:pic>
      <p:sp>
        <p:nvSpPr>
          <p:cNvPr id="9" name="Shape 9"/>
          <p:cNvSpPr/>
          <p:nvPr/>
        </p:nvSpPr>
        <p:spPr>
          <a:xfrm>
            <a:off x="571351" y="3738116"/>
            <a:ext cx="1094333" cy="663178"/>
          </a:xfrm>
          <a:prstGeom prst="rect">
            <a:avLst/>
          </a:prstGeom>
          <a:noFill/>
        </p:spPr>
        <p:txBody>
          <a:bodyPr anchor="t" wrap="square" tIns="0" bIns="0" lIns="0" rIns="0">
            <a:normAutofit/>
          </a:bodyPr>
          <a:lstStyle/>
          <a:p>
            <a:pPr algn="l">
              <a:lnSpc>
                <a:spcPts val="2612"/>
              </a:lnSpc>
              <a:buNone/>
            </a:pPr>
            <a:r>
              <a:rPr sz="1866" b="1" i="0">
                <a:solidFill>
                  <a:srgbClr val="FFFFFF"/>
                </a:solidFill>
                <a:latin typeface="Poppins"/>
                <a:ea typeface="Poppins"/>
              </a:rPr>
              <a:t>Comples</a:t>
            </a:r>
            <a:endParaRPr lang="en-US"/>
          </a:p>
        </p:txBody>
      </p:sp>
      <p:sp>
        <p:nvSpPr>
          <p:cNvPr id="10" name="Shape 10"/>
          <p:cNvSpPr/>
          <p:nvPr/>
        </p:nvSpPr>
        <p:spPr>
          <a:xfrm>
            <a:off x="1776710" y="3738116"/>
            <a:ext cx="1160413" cy="165795"/>
          </a:xfrm>
          <a:prstGeom prst="rect">
            <a:avLst/>
          </a:prstGeom>
          <a:noFill/>
        </p:spPr>
        <p:txBody>
          <a:bodyPr anchor="t" wrap="square" tIns="0" bIns="0" lIns="0" rIns="0">
            <a:normAutofit/>
          </a:bodyPr>
          <a:lstStyle/>
          <a:p>
            <a:pPr algn="l">
              <a:lnSpc>
                <a:spcPts val="1306"/>
              </a:lnSpc>
              <a:buNone/>
            </a:pPr>
            <a:r>
              <a:rPr sz="933" b="1" i="0">
                <a:solidFill>
                  <a:srgbClr val="FFFFFF"/>
                </a:solidFill>
                <a:latin typeface="Poppins"/>
                <a:ea typeface="Poppins"/>
              </a:rPr>
              <a:t>Gestione</a:t>
            </a:r>
            <a:endParaRPr lang="en-US"/>
          </a:p>
        </p:txBody>
      </p:sp>
      <p:sp>
        <p:nvSpPr>
          <p:cNvPr id="11" name="Shape 11"/>
          <p:cNvSpPr/>
          <p:nvPr/>
        </p:nvSpPr>
        <p:spPr>
          <a:xfrm>
            <a:off x="1776710" y="3934867"/>
            <a:ext cx="1196578" cy="189607"/>
          </a:xfrm>
          <a:prstGeom prst="rect">
            <a:avLst/>
          </a:prstGeom>
          <a:noFill/>
        </p:spPr>
        <p:txBody>
          <a:bodyPr anchor="t" wrap="square" tIns="0" bIns="0" lIns="0" rIns="0">
            <a:normAutofit/>
          </a:bodyPr>
          <a:lstStyle/>
          <a:p>
            <a:pPr algn="l">
              <a:lnSpc>
                <a:spcPts val="1493"/>
              </a:lnSpc>
              <a:buNone/>
            </a:pPr>
            <a:r>
              <a:rPr sz="1067" b="0" i="0">
                <a:solidFill>
                  <a:srgbClr val="FFFFFF"/>
                </a:solidFill>
                <a:latin typeface="Poppins"/>
                <a:ea typeface="Poppins"/>
              </a:rPr>
              <a:t>Efficienza</a:t>
            </a:r>
            <a:endParaRPr lang="en-US"/>
          </a:p>
        </p:txBody>
      </p:sp>
      <p:pic>
        <p:nvPicPr>
          <p:cNvPr id="108" name="Presenton Native Image 9" descr=""/>
          <p:cNvPicPr/>
          <p:nvPr/>
        </p:nvPicPr>
        <p:blipFill>
          <a:blip r:embed="rId5" cstate="none"/>
          <a:stretch>
            <a:fillRect/>
          </a:stretch>
        </p:blipFill>
        <p:spPr>
          <a:xfrm>
            <a:off x="3336131" y="1405533"/>
            <a:ext cx="2600771" cy="2140744"/>
          </a:xfrm>
          <a:prstGeom prst="rect">
            <a:avLst/>
          </a:prstGeom>
        </p:spPr>
      </p:pic>
      <p:pic>
        <p:nvPicPr>
          <p:cNvPr id="109" name="Presenton Native SVG Image 10" descr=""/>
          <p:cNvPicPr/>
          <p:nvPr/>
        </p:nvPicPr>
        <p:blipFill>
          <a:blip>
            <a:extLst>
              <a:ext uri="{96DAC541-7B7A-43D3-8B79-37D633B846F1}">
                <asvg:svgBlip xmlns:asvg="http://schemas.microsoft.com/office/drawing/2016/SVG/main" r:embed="rId10"/>
              </a:ext>
            </a:extLst>
          </a:blip>
          <a:stretch>
            <a:fillRect/>
          </a:stretch>
        </p:blipFill>
        <p:spPr>
          <a:xfrm>
            <a:off x="3349972" y="2995017"/>
            <a:ext cx="2587079" cy="1314301"/>
          </a:xfrm>
          <a:prstGeom prst="rect">
            <a:avLst/>
          </a:prstGeom>
        </p:spPr>
      </p:pic>
      <p:sp>
        <p:nvSpPr>
          <p:cNvPr id="12" name="Shape 12"/>
          <p:cNvSpPr/>
          <p:nvPr/>
        </p:nvSpPr>
        <p:spPr>
          <a:xfrm>
            <a:off x="3458617" y="3738116"/>
            <a:ext cx="1094333" cy="331589"/>
          </a:xfrm>
          <a:prstGeom prst="rect">
            <a:avLst/>
          </a:prstGeom>
          <a:noFill/>
        </p:spPr>
        <p:txBody>
          <a:bodyPr anchor="t" wrap="square" tIns="0" bIns="0" lIns="0" rIns="0">
            <a:normAutofit/>
          </a:bodyPr>
          <a:lstStyle/>
          <a:p>
            <a:pPr algn="l">
              <a:lnSpc>
                <a:spcPts val="2612"/>
              </a:lnSpc>
              <a:buNone/>
            </a:pPr>
            <a:r>
              <a:rPr sz="1866" b="1" i="0">
                <a:solidFill>
                  <a:srgbClr val="FFFFFF"/>
                </a:solidFill>
                <a:latin typeface="Poppins"/>
                <a:ea typeface="Poppins"/>
              </a:rPr>
              <a:t>Control</a:t>
            </a:r>
            <a:endParaRPr lang="en-US"/>
          </a:p>
        </p:txBody>
      </p:sp>
      <p:sp>
        <p:nvSpPr>
          <p:cNvPr id="13" name="Shape 13"/>
          <p:cNvSpPr/>
          <p:nvPr/>
        </p:nvSpPr>
        <p:spPr>
          <a:xfrm>
            <a:off x="4607421" y="3738116"/>
            <a:ext cx="1239441" cy="165795"/>
          </a:xfrm>
          <a:prstGeom prst="rect">
            <a:avLst/>
          </a:prstGeom>
          <a:noFill/>
        </p:spPr>
        <p:txBody>
          <a:bodyPr anchor="t" wrap="square" tIns="0" bIns="0" lIns="0" rIns="0">
            <a:normAutofit/>
          </a:bodyPr>
          <a:lstStyle/>
          <a:p>
            <a:pPr algn="l">
              <a:lnSpc>
                <a:spcPts val="1306"/>
              </a:lnSpc>
              <a:buNone/>
            </a:pPr>
            <a:r>
              <a:rPr sz="933" b="1" i="0">
                <a:solidFill>
                  <a:srgbClr val="FFFFFF"/>
                </a:solidFill>
                <a:latin typeface="Poppins"/>
                <a:ea typeface="Poppins"/>
              </a:rPr>
              <a:t>Scadenze</a:t>
            </a:r>
            <a:endParaRPr lang="en-US"/>
          </a:p>
        </p:txBody>
      </p:sp>
      <p:sp>
        <p:nvSpPr>
          <p:cNvPr id="14" name="Shape 14"/>
          <p:cNvSpPr/>
          <p:nvPr/>
        </p:nvSpPr>
        <p:spPr>
          <a:xfrm>
            <a:off x="4607421" y="3934867"/>
            <a:ext cx="1281559" cy="189607"/>
          </a:xfrm>
          <a:prstGeom prst="rect">
            <a:avLst/>
          </a:prstGeom>
          <a:noFill/>
        </p:spPr>
        <p:txBody>
          <a:bodyPr anchor="t" wrap="square" tIns="0" bIns="0" lIns="0" rIns="0">
            <a:normAutofit/>
          </a:bodyPr>
          <a:lstStyle/>
          <a:p>
            <a:pPr algn="l">
              <a:lnSpc>
                <a:spcPts val="1493"/>
              </a:lnSpc>
              <a:buNone/>
            </a:pPr>
            <a:r>
              <a:rPr sz="1067" b="0" i="0">
                <a:solidFill>
                  <a:srgbClr val="FFFFFF"/>
                </a:solidFill>
                <a:latin typeface="Poppins"/>
                <a:ea typeface="Poppins"/>
              </a:rPr>
              <a:t>Obiettivi</a:t>
            </a:r>
            <a:endParaRPr lang="en-US"/>
          </a:p>
        </p:txBody>
      </p:sp>
      <p:pic>
        <p:nvPicPr>
          <p:cNvPr id="110" name="Presenton Native Image 11" descr=""/>
          <p:cNvPicPr/>
          <p:nvPr/>
        </p:nvPicPr>
        <p:blipFill>
          <a:blip r:embed="rId6" cstate="none"/>
          <a:stretch>
            <a:fillRect/>
          </a:stretch>
        </p:blipFill>
        <p:spPr>
          <a:xfrm>
            <a:off x="6229201" y="3005138"/>
            <a:ext cx="2600771" cy="2140744"/>
          </a:xfrm>
          <a:prstGeom prst="rect">
            <a:avLst/>
          </a:prstGeom>
        </p:spPr>
      </p:pic>
      <p:pic>
        <p:nvPicPr>
          <p:cNvPr id="111" name="Presenton Native SVG Image 12" descr=""/>
          <p:cNvPicPr/>
          <p:nvPr/>
        </p:nvPicPr>
        <p:blipFill>
          <a:blip>
            <a:extLst>
              <a:ext uri="{96DAC541-7B7A-43D3-8B79-37D633B846F1}">
                <asvg:svgBlip xmlns:asvg="http://schemas.microsoft.com/office/drawing/2016/SVG/main" r:embed="rId11"/>
              </a:ext>
            </a:extLst>
          </a:blip>
          <a:stretch>
            <a:fillRect/>
          </a:stretch>
        </p:blipFill>
        <p:spPr>
          <a:xfrm>
            <a:off x="6236047" y="4535091"/>
            <a:ext cx="2587079" cy="1314301"/>
          </a:xfrm>
          <a:prstGeom prst="rect">
            <a:avLst/>
          </a:prstGeom>
        </p:spPr>
      </p:pic>
      <p:sp>
        <p:nvSpPr>
          <p:cNvPr id="15" name="Shape 15"/>
          <p:cNvSpPr/>
          <p:nvPr/>
        </p:nvSpPr>
        <p:spPr>
          <a:xfrm>
            <a:off x="6311801" y="5278189"/>
            <a:ext cx="1094333" cy="331589"/>
          </a:xfrm>
          <a:prstGeom prst="rect">
            <a:avLst/>
          </a:prstGeom>
          <a:noFill/>
        </p:spPr>
        <p:txBody>
          <a:bodyPr anchor="t" wrap="square" tIns="0" bIns="0" lIns="0" rIns="0">
            <a:normAutofit/>
          </a:bodyPr>
          <a:lstStyle/>
          <a:p>
            <a:pPr algn="l">
              <a:lnSpc>
                <a:spcPts val="2612"/>
              </a:lnSpc>
              <a:buNone/>
            </a:pPr>
            <a:r>
              <a:rPr sz="1866" b="1" i="0">
                <a:solidFill>
                  <a:srgbClr val="FFFFFF"/>
                </a:solidFill>
                <a:latin typeface="Poppins"/>
                <a:ea typeface="Poppins"/>
              </a:rPr>
              <a:t>Segrete</a:t>
            </a:r>
            <a:endParaRPr lang="en-US"/>
          </a:p>
        </p:txBody>
      </p:sp>
      <p:sp>
        <p:nvSpPr>
          <p:cNvPr id="16" name="Shape 16"/>
          <p:cNvSpPr/>
          <p:nvPr/>
        </p:nvSpPr>
        <p:spPr>
          <a:xfrm>
            <a:off x="7513439" y="5278189"/>
            <a:ext cx="1252538" cy="165795"/>
          </a:xfrm>
          <a:prstGeom prst="rect">
            <a:avLst/>
          </a:prstGeom>
          <a:noFill/>
        </p:spPr>
        <p:txBody>
          <a:bodyPr anchor="t" wrap="square" tIns="0" bIns="0" lIns="0" rIns="0">
            <a:normAutofit/>
          </a:bodyPr>
          <a:lstStyle/>
          <a:p>
            <a:pPr algn="l">
              <a:lnSpc>
                <a:spcPts val="1306"/>
              </a:lnSpc>
              <a:buNone/>
            </a:pPr>
            <a:r>
              <a:rPr sz="933" b="1" i="0">
                <a:solidFill>
                  <a:srgbClr val="FFFFFF"/>
                </a:solidFill>
                <a:latin typeface="Poppins"/>
                <a:ea typeface="Poppins"/>
              </a:rPr>
              <a:t>Documenti</a:t>
            </a:r>
            <a:endParaRPr lang="en-US"/>
          </a:p>
        </p:txBody>
      </p:sp>
      <p:sp>
        <p:nvSpPr>
          <p:cNvPr id="17" name="Shape 17"/>
          <p:cNvSpPr/>
          <p:nvPr/>
        </p:nvSpPr>
        <p:spPr>
          <a:xfrm>
            <a:off x="7513439" y="5480149"/>
            <a:ext cx="1196578" cy="189607"/>
          </a:xfrm>
          <a:prstGeom prst="rect">
            <a:avLst/>
          </a:prstGeom>
          <a:noFill/>
        </p:spPr>
        <p:txBody>
          <a:bodyPr anchor="t" wrap="square" tIns="0" bIns="0" lIns="0" rIns="0">
            <a:normAutofit/>
          </a:bodyPr>
          <a:lstStyle/>
          <a:p>
            <a:pPr algn="l">
              <a:lnSpc>
                <a:spcPts val="1493"/>
              </a:lnSpc>
              <a:buNone/>
            </a:pPr>
            <a:r>
              <a:rPr sz="1067" b="0" i="0">
                <a:solidFill>
                  <a:srgbClr val="FFFFFF"/>
                </a:solidFill>
                <a:latin typeface="Poppins"/>
                <a:ea typeface="Poppins"/>
              </a:rPr>
              <a:t>Cura</a:t>
            </a:r>
            <a:endParaRPr lang="en-US"/>
          </a:p>
        </p:txBody>
      </p:sp>
      <p:sp>
        <p:nvSpPr>
          <p:cNvPr id="18" name="Shape 18"/>
          <p:cNvSpPr/>
          <p:nvPr/>
        </p:nvSpPr>
        <p:spPr>
          <a:xfrm>
            <a:off x="451247" y="4737050"/>
            <a:ext cx="5511701" cy="522684"/>
          </a:xfrm>
          <a:prstGeom prst="rect">
            <a:avLst/>
          </a:prstGeom>
          <a:noFill/>
        </p:spPr>
        <p:txBody>
          <a:bodyPr anchor="t" wrap="square" tIns="0" bIns="0" lIns="0" rIns="0">
            <a:normAutofit/>
          </a:bodyPr>
          <a:lstStyle/>
          <a:p>
            <a:pPr algn="l">
              <a:lnSpc>
                <a:spcPts val="4116"/>
              </a:lnSpc>
              <a:buNone/>
            </a:pPr>
            <a:r>
              <a:rPr sz="4333" b="0" i="0" spc="0">
                <a:solidFill>
                  <a:srgbClr val="321A00"/>
                </a:solidFill>
                <a:latin typeface="Archivo Black"/>
                <a:ea typeface="Archivo Black"/>
              </a:rPr>
              <a:t xml:space="preserve">Visione </a:t>
            </a:r>
            <a:r>
              <a:rPr sz="4333" b="0" i="0" spc="0">
                <a:solidFill>
                  <a:srgbClr val="321A00"/>
                </a:solidFill>
                <a:latin typeface="Archivo Black"/>
                <a:ea typeface="Archivo Black"/>
              </a:rPr>
              <a:t>&amp;</a:t>
            </a:r>
            <a:r>
              <a:rPr sz="4333" b="0" i="0" spc="0">
                <a:solidFill>
                  <a:srgbClr val="321A00"/>
                </a:solidFill>
                <a:latin typeface="Archivo Black"/>
                <a:ea typeface="Archivo Black"/>
              </a:rPr>
              <a:t xml:space="preserve"> Problema</a:t>
            </a:r>
            <a:endParaRPr lang="en-US"/>
          </a:p>
        </p:txBody>
      </p:sp>
      <p:sp>
        <p:nvSpPr>
          <p:cNvPr id="19" name="Shape 19"/>
          <p:cNvSpPr/>
          <p:nvPr/>
        </p:nvSpPr>
        <p:spPr>
          <a:xfrm>
            <a:off x="451247" y="5830491"/>
            <a:ext cx="5114627" cy="426541"/>
          </a:xfrm>
          <a:prstGeom prst="rect">
            <a:avLst/>
          </a:prstGeom>
          <a:noFill/>
        </p:spPr>
        <p:txBody>
          <a:bodyPr anchor="t" wrap="square" tIns="0" bIns="0" lIns="0" rIns="0">
            <a:normAutofit/>
          </a:bodyPr>
          <a:lstStyle/>
          <a:p>
            <a:pPr algn="l">
              <a:lnSpc>
                <a:spcPts val="1680"/>
              </a:lnSpc>
              <a:buNone/>
            </a:pPr>
            <a:r>
              <a:rPr sz="1200" b="0" i="0">
                <a:solidFill>
                  <a:srgbClr val="321A00"/>
                </a:solidFill>
                <a:latin typeface="Poppins"/>
                <a:ea typeface="Poppins"/>
              </a:rPr>
              <a:t>Possiamo affrontare i complessi sopralluoghi, rispettare le scadenze tribunali e garantire la sicurezza dei documenti.</a:t>
            </a:r>
            <a:endParaRPr lang="en-US"/>
          </a:p>
        </p:txBody>
      </p:sp>
      <p:sp>
        <p:nvSpPr>
          <p:cNvPr id="20" name="Shape 20"/>
          <p:cNvSpPr/>
          <p:nvPr/>
        </p:nvSpPr>
        <p:spPr>
          <a:xfrm>
            <a:off x="444401" y="410021"/>
            <a:ext cx="3555206" cy="213271"/>
          </a:xfrm>
          <a:prstGeom prst="rect">
            <a:avLst/>
          </a:prstGeom>
          <a:noFill/>
        </p:spPr>
        <p:txBody>
          <a:bodyPr anchor="t" wrap="square" tIns="0" bIns="0" lIns="0" rIns="0">
            <a:normAutofit/>
          </a:bodyPr>
          <a:lstStyle/>
          <a:p>
            <a:pPr algn="l">
              <a:lnSpc>
                <a:spcPts val="1680"/>
              </a:lnSpc>
              <a:buNone/>
            </a:pPr>
            <a:r>
              <a:rPr sz="1200" b="0" i="0">
                <a:solidFill>
                  <a:srgbClr val="321A00"/>
                </a:solidFill>
                <a:latin typeface="Poppins"/>
                <a:ea typeface="Poppins"/>
              </a:rPr>
              <a:t>contatti@nostroprogetto.it</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2" name="Presenton Native SVG Image 13" descr=""/>
          <p:cNvPicPr/>
          <p:nvPr/>
        </p:nvPicPr>
        <p:blipFill>
          <a:blip>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pic>
        <p:nvPicPr>
          <p:cNvPr id="113" name="Presenton Native Image 14" descr=""/>
          <p:cNvPicPr/>
          <p:nvPr/>
        </p:nvPicPr>
        <p:blipFill>
          <a:blip r:embed="rId3" cstate="none"/>
          <a:stretch>
            <a:fillRect/>
          </a:stretch>
        </p:blipFill>
        <p:spPr>
          <a:xfrm>
            <a:off x="0" y="0"/>
            <a:ext cx="12192000" cy="1666301"/>
          </a:xfrm>
          <a:prstGeom prst="rect">
            <a:avLst/>
          </a:prstGeom>
        </p:spPr>
      </p:pic>
      <p:pic>
        <p:nvPicPr>
          <p:cNvPr id="114" name="Presenton Native Image 15" descr=""/>
          <p:cNvPicPr/>
          <p:nvPr/>
        </p:nvPicPr>
        <p:blipFill>
          <a:blip r:embed="rId4" cstate="none"/>
          <a:stretch>
            <a:fillRect/>
          </a:stretch>
        </p:blipFill>
        <p:spPr>
          <a:xfrm>
            <a:off x="444401" y="1075432"/>
            <a:ext cx="5651450" cy="3698825"/>
          </a:xfrm>
          <a:prstGeom prst="rect">
            <a:avLst/>
          </a:prstGeom>
        </p:spPr>
      </p:pic>
      <p:pic>
        <p:nvPicPr>
          <p:cNvPr id="115" name="Presenton Native Image 16" descr=""/>
          <p:cNvPicPr/>
          <p:nvPr/>
        </p:nvPicPr>
        <p:blipFill>
          <a:blip r:embed="rId5" cstate="none"/>
          <a:stretch>
            <a:fillRect/>
          </a:stretch>
        </p:blipFill>
        <p:spPr>
          <a:xfrm>
            <a:off x="6582519" y="3221385"/>
            <a:ext cx="5164634" cy="3191917"/>
          </a:xfrm>
          <a:prstGeom prst="rect">
            <a:avLst/>
          </a:prstGeom>
        </p:spPr>
      </p:pic>
      <p:pic>
        <p:nvPicPr>
          <p:cNvPr id="116" name="Presenton Native Image 17" descr=""/>
          <p:cNvPicPr/>
          <p:nvPr/>
        </p:nvPicPr>
        <p:blipFill>
          <a:blip r:embed="rId6" cstate="none"/>
          <a:stretch>
            <a:fillRect/>
          </a:stretch>
        </p:blipFill>
        <p:spPr>
          <a:xfrm>
            <a:off x="444401" y="4065984"/>
            <a:ext cx="3663851" cy="2347317"/>
          </a:xfrm>
          <a:prstGeom prst="rect">
            <a:avLst/>
          </a:prstGeom>
        </p:spPr>
      </p:pic>
      <p:sp>
        <p:nvSpPr>
          <p:cNvPr id="21" name="Shape 21"/>
          <p:cNvSpPr/>
          <p:nvPr/>
        </p:nvSpPr>
        <p:spPr>
          <a:xfrm>
            <a:off x="6582668" y="1332161"/>
            <a:ext cx="5379244" cy="522684"/>
          </a:xfrm>
          <a:prstGeom prst="rect">
            <a:avLst/>
          </a:prstGeom>
          <a:noFill/>
        </p:spPr>
        <p:txBody>
          <a:bodyPr anchor="t" wrap="square" tIns="0" bIns="0" lIns="0" rIns="0">
            <a:normAutofit/>
          </a:bodyPr>
          <a:lstStyle/>
          <a:p>
            <a:pPr algn="l">
              <a:lnSpc>
                <a:spcPts val="4116"/>
              </a:lnSpc>
              <a:buNone/>
            </a:pPr>
            <a:r>
              <a:rPr sz="4333" b="0" i="0" spc="0">
                <a:solidFill>
                  <a:srgbClr val="321A00"/>
                </a:solidFill>
                <a:latin typeface="Archivo Black"/>
                <a:ea typeface="Archivo Black"/>
              </a:rPr>
              <a:t>Risorse realizzate</a:t>
            </a:r>
            <a:endParaRPr lang="en-US"/>
          </a:p>
        </p:txBody>
      </p:sp>
      <p:sp>
        <p:nvSpPr>
          <p:cNvPr id="22" name="Shape 22"/>
          <p:cNvSpPr/>
          <p:nvPr/>
        </p:nvSpPr>
        <p:spPr>
          <a:xfrm>
            <a:off x="6582668" y="2409527"/>
            <a:ext cx="4813697" cy="426541"/>
          </a:xfrm>
          <a:prstGeom prst="rect">
            <a:avLst/>
          </a:prstGeom>
          <a:noFill/>
        </p:spPr>
        <p:txBody>
          <a:bodyPr anchor="t" wrap="square" tIns="0" bIns="0" lIns="0" rIns="0">
            <a:normAutofit/>
          </a:bodyPr>
          <a:lstStyle/>
          <a:p>
            <a:pPr algn="l">
              <a:lnSpc>
                <a:spcPts val="1680"/>
              </a:lnSpc>
              <a:buNone/>
            </a:pPr>
            <a:r>
              <a:rPr sz="1200" b="0" i="0">
                <a:solidFill>
                  <a:srgbClr val="321A00"/>
                </a:solidFill>
                <a:latin typeface="Poppins"/>
                <a:ea typeface="Poppins"/>
              </a:rPr>
              <a:t>Estrazione audio da registrazioni HD, trascrizioni in tempo reale e elaborazione dei compromessi negli impianti.</a:t>
            </a:r>
            <a:endParaRPr lang="en-US"/>
          </a:p>
        </p:txBody>
      </p:sp>
      <p:sp>
        <p:nvSpPr>
          <p:cNvPr id="23" name="Shape 23"/>
          <p:cNvSpPr/>
          <p:nvPr/>
        </p:nvSpPr>
        <p:spPr>
          <a:xfrm>
            <a:off x="444401" y="410021"/>
            <a:ext cx="3378398" cy="213271"/>
          </a:xfrm>
          <a:prstGeom prst="rect">
            <a:avLst/>
          </a:prstGeom>
          <a:noFill/>
        </p:spPr>
        <p:txBody>
          <a:bodyPr anchor="t" wrap="square" tIns="0" bIns="0" lIns="0" rIns="0">
            <a:normAutofit/>
          </a:bodyPr>
          <a:lstStyle/>
          <a:p>
            <a:pPr algn="l">
              <a:lnSpc>
                <a:spcPts val="1680"/>
              </a:lnSpc>
              <a:buNone/>
            </a:pPr>
            <a:r>
              <a:rPr sz="1200" b="0" i="0">
                <a:solidFill>
                  <a:srgbClr val="321A00"/>
                </a:solidFill>
                <a:latin typeface="Poppins"/>
                <a:ea typeface="Poppins"/>
              </a:rPr>
              <a:t>Contatti: vocireali@cantiere.com</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7" name="Presenton Native SVG Image 18" descr=""/>
          <p:cNvPicPr/>
          <p:nvPr/>
        </p:nvPicPr>
        <p:blipFill>
          <a:blip>
            <a:extLst>
              <a:ext uri="{96DAC541-7B7A-43D3-8B79-37D633B846F1}">
                <asvg:svgBlip xmlns:asvg="http://schemas.microsoft.com/office/drawing/2016/SVG/main" r:embed="rId12"/>
              </a:ext>
            </a:extLst>
          </a:blip>
          <a:stretch>
            <a:fillRect/>
          </a:stretch>
        </p:blipFill>
        <p:spPr>
          <a:xfrm>
            <a:off x="0" y="0"/>
            <a:ext cx="12192000" cy="6858000"/>
          </a:xfrm>
          <a:prstGeom prst="rect">
            <a:avLst/>
          </a:prstGeom>
        </p:spPr>
      </p:pic>
      <p:pic>
        <p:nvPicPr>
          <p:cNvPr id="118" name="Presenton Native Image 19" descr=""/>
          <p:cNvPicPr/>
          <p:nvPr/>
        </p:nvPicPr>
        <p:blipFill>
          <a:blip r:embed="rId3" cstate="none"/>
          <a:stretch>
            <a:fillRect/>
          </a:stretch>
        </p:blipFill>
        <p:spPr>
          <a:xfrm>
            <a:off x="0" y="0"/>
            <a:ext cx="12192000" cy="1358857"/>
          </a:xfrm>
          <a:prstGeom prst="rect">
            <a:avLst/>
          </a:prstGeom>
        </p:spPr>
      </p:pic>
      <p:pic>
        <p:nvPicPr>
          <p:cNvPr id="119" name="Presenton Native SVG Image 20" descr=""/>
          <p:cNvPicPr/>
          <p:nvPr/>
        </p:nvPicPr>
        <p:blipFill>
          <a:blip>
            <a:extLst>
              <a:ext uri="{96DAC541-7B7A-43D3-8B79-37D633B846F1}">
                <asvg:svgBlip xmlns:asvg="http://schemas.microsoft.com/office/drawing/2016/SVG/main" r:embed="rId13"/>
              </a:ext>
            </a:extLst>
          </a:blip>
          <a:stretch>
            <a:fillRect/>
          </a:stretch>
        </p:blipFill>
        <p:spPr>
          <a:xfrm>
            <a:off x="476250" y="3949601"/>
            <a:ext cx="11239500" cy="2432000"/>
          </a:xfrm>
          <a:prstGeom prst="rect">
            <a:avLst/>
          </a:prstGeom>
        </p:spPr>
      </p:pic>
      <p:pic>
        <p:nvPicPr>
          <p:cNvPr id="120" name="Presenton Native SVG Image 21" descr=""/>
          <p:cNvPicPr/>
          <p:nvPr/>
        </p:nvPicPr>
        <p:blipFill>
          <a:blip>
            <a:extLst>
              <a:ext uri="{96DAC541-7B7A-43D3-8B79-37D633B846F1}">
                <asvg:svgBlip xmlns:asvg="http://schemas.microsoft.com/office/drawing/2016/SVG/main" r:embed="rId14"/>
              </a:ext>
            </a:extLst>
          </a:blip>
          <a:stretch>
            <a:fillRect/>
          </a:stretch>
        </p:blipFill>
        <p:spPr>
          <a:xfrm>
            <a:off x="3428851" y="3429000"/>
            <a:ext cx="2554784" cy="2633514"/>
          </a:xfrm>
          <a:prstGeom prst="rect">
            <a:avLst/>
          </a:prstGeom>
        </p:spPr>
      </p:pic>
      <p:pic>
        <p:nvPicPr>
          <p:cNvPr id="121" name="Presenton Native SVG Image 22" descr=""/>
          <p:cNvPicPr/>
          <p:nvPr/>
        </p:nvPicPr>
        <p:blipFill>
          <a:blip>
            <a:extLst>
              <a:ext uri="{96DAC541-7B7A-43D3-8B79-37D633B846F1}">
                <asvg:svgBlip xmlns:asvg="http://schemas.microsoft.com/office/drawing/2016/SVG/main" r:embed="rId15"/>
              </a:ext>
            </a:extLst>
          </a:blip>
          <a:stretch>
            <a:fillRect/>
          </a:stretch>
        </p:blipFill>
        <p:spPr>
          <a:xfrm>
            <a:off x="3577679" y="3592711"/>
            <a:ext cx="422523" cy="356890"/>
          </a:xfrm>
          <a:prstGeom prst="rect">
            <a:avLst/>
          </a:prstGeom>
        </p:spPr>
      </p:pic>
      <p:pic>
        <p:nvPicPr>
          <p:cNvPr id="122" name="Presenton Native Image 23" descr=""/>
          <p:cNvPicPr/>
          <p:nvPr/>
        </p:nvPicPr>
        <p:blipFill>
          <a:blip r:embed="rId7" cstate="none"/>
          <a:stretch>
            <a:fillRect/>
          </a:stretch>
        </p:blipFill>
        <p:spPr>
          <a:xfrm>
            <a:off x="3693616" y="3675906"/>
            <a:ext cx="190500" cy="190500"/>
          </a:xfrm>
          <a:prstGeom prst="rect">
            <a:avLst/>
          </a:prstGeom>
        </p:spPr>
      </p:pic>
      <p:sp>
        <p:nvSpPr>
          <p:cNvPr id="24" name="Shape 24"/>
          <p:cNvSpPr/>
          <p:nvPr/>
        </p:nvSpPr>
        <p:spPr>
          <a:xfrm>
            <a:off x="3577679" y="5144095"/>
            <a:ext cx="2293739" cy="189607"/>
          </a:xfrm>
          <a:prstGeom prst="rect">
            <a:avLst/>
          </a:prstGeom>
          <a:noFill/>
        </p:spPr>
        <p:txBody>
          <a:bodyPr anchor="t" wrap="square" tIns="0" bIns="0" lIns="0" rIns="0">
            <a:normAutofit/>
          </a:bodyPr>
          <a:lstStyle/>
          <a:p>
            <a:pPr algn="l">
              <a:lnSpc>
                <a:spcPts val="1493"/>
              </a:lnSpc>
              <a:buNone/>
            </a:pPr>
            <a:r>
              <a:rPr sz="1067" b="1" i="0">
                <a:solidFill>
                  <a:srgbClr val="321A00"/>
                </a:solidFill>
                <a:latin typeface="Poppins Semi"/>
                <a:ea typeface="Poppins Semi"/>
              </a:rPr>
              <a:t>Agenda Intelligente</a:t>
            </a:r>
            <a:endParaRPr lang="en-US"/>
          </a:p>
        </p:txBody>
      </p:sp>
      <p:sp>
        <p:nvSpPr>
          <p:cNvPr id="25" name="Shape 25"/>
          <p:cNvSpPr/>
          <p:nvPr/>
        </p:nvSpPr>
        <p:spPr>
          <a:xfrm>
            <a:off x="3577679" y="5389959"/>
            <a:ext cx="2290763" cy="284559"/>
          </a:xfrm>
          <a:prstGeom prst="rect">
            <a:avLst/>
          </a:prstGeom>
          <a:noFill/>
        </p:spPr>
        <p:txBody>
          <a:bodyPr anchor="t" wrap="square" tIns="0" bIns="0" lIns="0" rIns="0">
            <a:normAutofit/>
          </a:bodyPr>
          <a:lstStyle/>
          <a:p>
            <a:pPr algn="l">
              <a:lnSpc>
                <a:spcPts val="1120"/>
              </a:lnSpc>
              <a:buNone/>
            </a:pPr>
            <a:r>
              <a:rPr sz="800" b="0" i="0">
                <a:solidFill>
                  <a:srgbClr val="321A00"/>
                </a:solidFill>
                <a:latin typeface="Poppins"/>
                <a:ea typeface="Poppins"/>
              </a:rPr>
              <a:t>Integra il rilevamento di sovrapposizioni orarie per garantire una programmazione效</a:t>
            </a:r>
            <a:endParaRPr lang="en-US"/>
          </a:p>
        </p:txBody>
      </p:sp>
      <p:pic>
        <p:nvPicPr>
          <p:cNvPr id="123" name="Presenton Native SVG Image 24" descr=""/>
          <p:cNvPicPr/>
          <p:nvPr/>
        </p:nvPicPr>
        <p:blipFill>
          <a:blip>
            <a:extLst>
              <a:ext uri="{96DAC541-7B7A-43D3-8B79-37D633B846F1}">
                <asvg:svgBlip xmlns:asvg="http://schemas.microsoft.com/office/drawing/2016/SVG/main" r:embed="rId16"/>
              </a:ext>
            </a:extLst>
          </a:blip>
          <a:stretch>
            <a:fillRect/>
          </a:stretch>
        </p:blipFill>
        <p:spPr>
          <a:xfrm>
            <a:off x="6208068" y="4117479"/>
            <a:ext cx="2554784" cy="2096244"/>
          </a:xfrm>
          <a:prstGeom prst="rect">
            <a:avLst/>
          </a:prstGeom>
        </p:spPr>
      </p:pic>
      <p:pic>
        <p:nvPicPr>
          <p:cNvPr id="124" name="Presenton Native SVG Image 25" descr=""/>
          <p:cNvPicPr/>
          <p:nvPr/>
        </p:nvPicPr>
        <p:blipFill>
          <a:blip>
            <a:extLst>
              <a:ext uri="{96DAC541-7B7A-43D3-8B79-37D633B846F1}">
                <asvg:svgBlip xmlns:asvg="http://schemas.microsoft.com/office/drawing/2016/SVG/main" r:embed="rId17"/>
              </a:ext>
            </a:extLst>
          </a:blip>
          <a:stretch>
            <a:fillRect/>
          </a:stretch>
        </p:blipFill>
        <p:spPr>
          <a:xfrm>
            <a:off x="6351538" y="4246662"/>
            <a:ext cx="422523" cy="356890"/>
          </a:xfrm>
          <a:prstGeom prst="rect">
            <a:avLst/>
          </a:prstGeom>
        </p:spPr>
      </p:pic>
      <p:pic>
        <p:nvPicPr>
          <p:cNvPr id="125" name="Presenton Native Image 26" descr=""/>
          <p:cNvPicPr/>
          <p:nvPr/>
        </p:nvPicPr>
        <p:blipFill>
          <a:blip r:embed="rId10" cstate="none"/>
          <a:stretch>
            <a:fillRect/>
          </a:stretch>
        </p:blipFill>
        <p:spPr>
          <a:xfrm>
            <a:off x="6467475" y="4329857"/>
            <a:ext cx="190500" cy="190500"/>
          </a:xfrm>
          <a:prstGeom prst="rect">
            <a:avLst/>
          </a:prstGeom>
        </p:spPr>
      </p:pic>
      <p:sp>
        <p:nvSpPr>
          <p:cNvPr id="26" name="Shape 26"/>
          <p:cNvSpPr/>
          <p:nvPr/>
        </p:nvSpPr>
        <p:spPr>
          <a:xfrm>
            <a:off x="6351538" y="5267027"/>
            <a:ext cx="2141190" cy="189607"/>
          </a:xfrm>
          <a:prstGeom prst="rect">
            <a:avLst/>
          </a:prstGeom>
          <a:noFill/>
        </p:spPr>
        <p:txBody>
          <a:bodyPr anchor="t" wrap="square" tIns="0" bIns="0" lIns="0" rIns="0">
            <a:normAutofit/>
          </a:bodyPr>
          <a:lstStyle/>
          <a:p>
            <a:pPr algn="l">
              <a:lnSpc>
                <a:spcPts val="1493"/>
              </a:lnSpc>
              <a:buNone/>
            </a:pPr>
            <a:r>
              <a:rPr sz="1067" b="1" i="0">
                <a:solidFill>
                  <a:srgbClr val="321A00"/>
                </a:solidFill>
                <a:latin typeface="Poppins Semi"/>
                <a:ea typeface="Poppins Semi"/>
              </a:rPr>
              <a:t>Conflitti Rilevati</a:t>
            </a:r>
            <a:endParaRPr lang="en-US"/>
          </a:p>
        </p:txBody>
      </p:sp>
      <p:sp>
        <p:nvSpPr>
          <p:cNvPr id="27" name="Shape 27"/>
          <p:cNvSpPr/>
          <p:nvPr/>
        </p:nvSpPr>
        <p:spPr>
          <a:xfrm>
            <a:off x="6351538" y="5512891"/>
            <a:ext cx="2290763" cy="284559"/>
          </a:xfrm>
          <a:prstGeom prst="rect">
            <a:avLst/>
          </a:prstGeom>
          <a:noFill/>
        </p:spPr>
        <p:txBody>
          <a:bodyPr anchor="t" wrap="square" tIns="0" bIns="0" lIns="0" rIns="0">
            <a:normAutofit/>
          </a:bodyPr>
          <a:lstStyle/>
          <a:p>
            <a:pPr algn="l">
              <a:lnSpc>
                <a:spcPts val="1120"/>
              </a:lnSpc>
              <a:buNone/>
            </a:pPr>
            <a:r>
              <a:rPr sz="800" b="0" i="0">
                <a:solidFill>
                  <a:srgbClr val="321A00"/>
                </a:solidFill>
                <a:latin typeface="Poppins"/>
                <a:ea typeface="Poppins"/>
              </a:rPr>
              <a:t>3 promemoria salva-udienza a 30 minuti, 60 minuti e 24 ore per prevenire tempi di掷</a:t>
            </a:r>
            <a:endParaRPr lang="en-US"/>
          </a:p>
        </p:txBody>
      </p:sp>
      <p:sp>
        <p:nvSpPr>
          <p:cNvPr id="28" name="Shape 28"/>
          <p:cNvSpPr/>
          <p:nvPr/>
        </p:nvSpPr>
        <p:spPr>
          <a:xfrm>
            <a:off x="444401" y="410021"/>
            <a:ext cx="3643461" cy="213271"/>
          </a:xfrm>
          <a:prstGeom prst="rect">
            <a:avLst/>
          </a:prstGeom>
          <a:noFill/>
        </p:spPr>
        <p:txBody>
          <a:bodyPr anchor="t" wrap="square" tIns="0" bIns="0" lIns="0" rIns="0">
            <a:normAutofit/>
          </a:bodyPr>
          <a:lstStyle/>
          <a:p>
            <a:pPr algn="l">
              <a:lnSpc>
                <a:spcPts val="1680"/>
              </a:lnSpc>
              <a:buNone/>
            </a:pPr>
            <a:r>
              <a:rPr sz="1200" b="0" i="0">
                <a:solidFill>
                  <a:srgbClr val="321A00"/>
                </a:solidFill>
                <a:latin typeface="Poppins"/>
                <a:ea typeface="Poppins"/>
              </a:rPr>
              <a:t>supporto@domain.com</a:t>
            </a:r>
            <a:endParaRPr lang="en-US"/>
          </a:p>
        </p:txBody>
      </p:sp>
      <p:sp>
        <p:nvSpPr>
          <p:cNvPr id="29" name="Shape 29"/>
          <p:cNvSpPr/>
          <p:nvPr/>
        </p:nvSpPr>
        <p:spPr>
          <a:xfrm>
            <a:off x="1809452" y="1809750"/>
            <a:ext cx="8591848" cy="522684"/>
          </a:xfrm>
          <a:prstGeom prst="rect">
            <a:avLst/>
          </a:prstGeom>
          <a:noFill/>
        </p:spPr>
        <p:txBody>
          <a:bodyPr anchor="t" wrap="square" tIns="0" bIns="0" lIns="0" rIns="0">
            <a:normAutofit/>
          </a:bodyPr>
          <a:lstStyle/>
          <a:p>
            <a:pPr algn="ctr">
              <a:lnSpc>
                <a:spcPts val="4116"/>
              </a:lnSpc>
              <a:buNone/>
            </a:pPr>
            <a:r>
              <a:rPr sz="4333" b="0" i="0" spc="0">
                <a:solidFill>
                  <a:srgbClr val="321A00"/>
                </a:solidFill>
                <a:latin typeface="Archivo Black"/>
                <a:ea typeface="Archivo Black"/>
              </a:rPr>
              <a:t xml:space="preserve">Agenda Intelligente </a:t>
            </a:r>
            <a:r>
              <a:rPr sz="4333" b="0" i="0" spc="0">
                <a:solidFill>
                  <a:srgbClr val="321A00"/>
                </a:solidFill>
                <a:latin typeface="Archivo Black"/>
                <a:ea typeface="Archivo Black"/>
              </a:rPr>
              <a:t>&amp;</a:t>
            </a:r>
            <a:r>
              <a:rPr sz="4333" b="0" i="0" spc="0">
                <a:solidFill>
                  <a:srgbClr val="321A00"/>
                </a:solidFill>
                <a:latin typeface="Archivo Black"/>
                <a:ea typeface="Archivo Black"/>
              </a:rPr>
              <a:t xml:space="preserve">
</a:t>
            </a:r>
            <a:endParaRPr lang="en-US"/>
          </a:p>
        </p:txBody>
      </p:sp>
      <p:sp>
        <p:nvSpPr>
          <p:cNvPr id="30" name="Shape 30"/>
          <p:cNvSpPr/>
          <p:nvPr/>
        </p:nvSpPr>
        <p:spPr>
          <a:xfrm>
            <a:off x="982117" y="2449711"/>
            <a:ext cx="10246519" cy="426541"/>
          </a:xfrm>
          <a:prstGeom prst="rect">
            <a:avLst/>
          </a:prstGeom>
          <a:noFill/>
        </p:spPr>
        <p:txBody>
          <a:bodyPr anchor="t" wrap="square" tIns="0" bIns="0" lIns="0" rIns="0">
            <a:normAutofit/>
          </a:bodyPr>
          <a:lstStyle/>
          <a:p>
            <a:pPr algn="ctr">
              <a:lnSpc>
                <a:spcPts val="1680"/>
              </a:lnSpc>
              <a:buNone/>
            </a:pPr>
            <a:r>
              <a:rPr sz="1200" b="0" i="0">
                <a:solidFill>
                  <a:srgbClr val="321A00"/>
                </a:solidFill>
                <a:latin typeface="Poppins"/>
                <a:ea typeface="Poppins"/>
              </a:rPr>
              <a:t>Cattura efficacemente sovrapposizioni orarie con promemoria salva-udienza, garantendo che ogni incontro sia ben pianificato. 3 notifiche personalizzate per prevenire ritardi e assurdità di programmazione.</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26" name="Presenton Native SVG Image 27" descr=""/>
          <p:cNvPicPr/>
          <p:nvPr/>
        </p:nvPicPr>
        <p:blipFill>
          <a:blip>
            <a:extLst>
              <a:ext uri="{96DAC541-7B7A-43D3-8B79-37D633B846F1}">
                <asvg:svgBlip xmlns:asvg="http://schemas.microsoft.com/office/drawing/2016/SVG/main" r:embed="rId8"/>
              </a:ext>
            </a:extLst>
          </a:blip>
          <a:stretch>
            <a:fillRect/>
          </a:stretch>
        </p:blipFill>
        <p:spPr>
          <a:xfrm>
            <a:off x="0" y="0"/>
            <a:ext cx="12192000" cy="6858000"/>
          </a:xfrm>
          <a:prstGeom prst="rect">
            <a:avLst/>
          </a:prstGeom>
        </p:spPr>
      </p:pic>
      <p:pic>
        <p:nvPicPr>
          <p:cNvPr id="127" name="Presenton Native SVG Image 28" descr=""/>
          <p:cNvPicPr/>
          <p:nvPr/>
        </p:nvPicPr>
        <p:blipFill>
          <a:blip>
            <a:extLst>
              <a:ext uri="{96DAC541-7B7A-43D3-8B79-37D633B846F1}">
                <asvg:svgBlip xmlns:asvg="http://schemas.microsoft.com/office/drawing/2016/SVG/main" r:embed="rId9"/>
              </a:ext>
            </a:extLst>
          </a:blip>
          <a:stretch>
            <a:fillRect/>
          </a:stretch>
        </p:blipFill>
        <p:spPr>
          <a:xfrm>
            <a:off x="8159651" y="2823418"/>
            <a:ext cx="3587651" cy="3558183"/>
          </a:xfrm>
          <a:prstGeom prst="rect">
            <a:avLst/>
          </a:prstGeom>
        </p:spPr>
      </p:pic>
      <p:sp>
        <p:nvSpPr>
          <p:cNvPr id="31" name="Shape 31"/>
          <p:cNvSpPr/>
          <p:nvPr/>
        </p:nvSpPr>
        <p:spPr>
          <a:xfrm>
            <a:off x="8510736" y="3406676"/>
            <a:ext cx="2691854" cy="1066502"/>
          </a:xfrm>
          <a:prstGeom prst="rect">
            <a:avLst/>
          </a:prstGeom>
          <a:noFill/>
        </p:spPr>
        <p:txBody>
          <a:bodyPr anchor="t" wrap="square" tIns="0" bIns="0" lIns="0" rIns="0">
            <a:normAutofit/>
          </a:bodyPr>
          <a:lstStyle/>
          <a:p>
            <a:pPr algn="l">
              <a:lnSpc>
                <a:spcPts val="8399"/>
              </a:lnSpc>
              <a:buNone/>
            </a:pPr>
            <a:r>
              <a:rPr sz="5999" b="1" i="0">
                <a:solidFill>
                  <a:srgbClr val="FFFFFF"/>
                </a:solidFill>
                <a:latin typeface="Poppins Semi"/>
                <a:ea typeface="Poppins Semi"/>
              </a:rPr>
              <a:t>6</a:t>
            </a:r>
            <a:endParaRPr lang="en-US"/>
          </a:p>
        </p:txBody>
      </p:sp>
      <p:sp>
        <p:nvSpPr>
          <p:cNvPr id="32" name="Shape 32"/>
          <p:cNvSpPr/>
          <p:nvPr/>
        </p:nvSpPr>
        <p:spPr>
          <a:xfrm>
            <a:off x="8510736" y="4906714"/>
            <a:ext cx="3034308" cy="213271"/>
          </a:xfrm>
          <a:prstGeom prst="rect">
            <a:avLst/>
          </a:prstGeom>
          <a:noFill/>
        </p:spPr>
        <p:txBody>
          <a:bodyPr anchor="t" wrap="square" tIns="0" bIns="0" lIns="0" rIns="0">
            <a:normAutofit/>
          </a:bodyPr>
          <a:lstStyle/>
          <a:p>
            <a:pPr algn="l">
              <a:lnSpc>
                <a:spcPts val="1680"/>
              </a:lnSpc>
              <a:buNone/>
            </a:pPr>
            <a:r>
              <a:rPr sz="1200" b="1" i="0">
                <a:solidFill>
                  <a:srgbClr val="FFFFFF"/>
                </a:solidFill>
                <a:latin typeface="Poppins Semi"/>
                <a:ea typeface="Poppins Semi"/>
              </a:rPr>
              <a:t>Cartelle</a:t>
            </a:r>
            <a:endParaRPr lang="en-US"/>
          </a:p>
        </p:txBody>
      </p:sp>
      <p:sp>
        <p:nvSpPr>
          <p:cNvPr id="33" name="Shape 33"/>
          <p:cNvSpPr/>
          <p:nvPr/>
        </p:nvSpPr>
        <p:spPr>
          <a:xfrm>
            <a:off x="8510736" y="5550843"/>
            <a:ext cx="2904381" cy="497384"/>
          </a:xfrm>
          <a:prstGeom prst="rect">
            <a:avLst/>
          </a:prstGeom>
          <a:noFill/>
        </p:spPr>
        <p:txBody>
          <a:bodyPr anchor="t" wrap="square" tIns="0" bIns="0" lIns="0" rIns="0">
            <a:normAutofit/>
          </a:bodyPr>
          <a:lstStyle/>
          <a:p>
            <a:pPr algn="l">
              <a:lnSpc>
                <a:spcPts val="1306"/>
              </a:lnSpc>
              <a:buNone/>
            </a:pPr>
            <a:r>
              <a:rPr sz="933" b="0" i="0">
                <a:solidFill>
                  <a:srgbClr val="FFFFFF"/>
                </a:solidFill>
                <a:latin typeface="Poppins"/>
                <a:ea typeface="Poppins"/>
              </a:rPr>
              <a:t>Archivio di 6 cartelle organizzate per tipologia documentale, consentendo una gestione flessibile e organizzata.</a:t>
            </a:r>
            <a:endParaRPr lang="en-US"/>
          </a:p>
        </p:txBody>
      </p:sp>
      <p:pic>
        <p:nvPicPr>
          <p:cNvPr id="128" name="Presenton Native Image 29" descr=""/>
          <p:cNvPicPr/>
          <p:nvPr/>
        </p:nvPicPr>
        <p:blipFill>
          <a:blip r:embed="rId4" cstate="none"/>
          <a:stretch>
            <a:fillRect/>
          </a:stretch>
        </p:blipFill>
        <p:spPr>
          <a:xfrm>
            <a:off x="498872" y="2823418"/>
            <a:ext cx="3533180" cy="3558183"/>
          </a:xfrm>
          <a:prstGeom prst="rect">
            <a:avLst/>
          </a:prstGeom>
        </p:spPr>
      </p:pic>
      <p:pic>
        <p:nvPicPr>
          <p:cNvPr id="129" name="Presenton Native SVG Image 30" descr=""/>
          <p:cNvPicPr/>
          <p:nvPr/>
        </p:nvPicPr>
        <p:blipFill>
          <a:blip>
            <a:extLst>
              <a:ext uri="{96DAC541-7B7A-43D3-8B79-37D633B846F1}">
                <asvg:svgBlip xmlns:asvg="http://schemas.microsoft.com/office/drawing/2016/SVG/main" r:embed="rId10"/>
              </a:ext>
            </a:extLst>
          </a:blip>
          <a:stretch>
            <a:fillRect/>
          </a:stretch>
        </p:blipFill>
        <p:spPr>
          <a:xfrm>
            <a:off x="603647" y="4833789"/>
            <a:ext cx="3323630" cy="1441400"/>
          </a:xfrm>
          <a:prstGeom prst="rect">
            <a:avLst/>
          </a:prstGeom>
        </p:spPr>
      </p:pic>
      <p:sp>
        <p:nvSpPr>
          <p:cNvPr id="34" name="Shape 34"/>
          <p:cNvSpPr/>
          <p:nvPr/>
        </p:nvSpPr>
        <p:spPr>
          <a:xfrm>
            <a:off x="778520" y="4978450"/>
            <a:ext cx="2839194" cy="474018"/>
          </a:xfrm>
          <a:prstGeom prst="rect">
            <a:avLst/>
          </a:prstGeom>
          <a:noFill/>
        </p:spPr>
        <p:txBody>
          <a:bodyPr anchor="t" wrap="square" tIns="0" bIns="0" lIns="0" rIns="0">
            <a:normAutofit/>
          </a:bodyPr>
          <a:lstStyle/>
          <a:p>
            <a:pPr algn="l">
              <a:lnSpc>
                <a:spcPts val="3733"/>
              </a:lnSpc>
              <a:buNone/>
            </a:pPr>
            <a:r>
              <a:rPr sz="2666" b="1" i="0">
                <a:solidFill>
                  <a:srgbClr val="FFFFFF"/>
                </a:solidFill>
                <a:latin typeface="Poppins Semi"/>
                <a:ea typeface="Poppins Semi"/>
              </a:rPr>
              <a:t>6 cartelle</a:t>
            </a:r>
            <a:endParaRPr lang="en-US"/>
          </a:p>
        </p:txBody>
      </p:sp>
      <p:sp>
        <p:nvSpPr>
          <p:cNvPr id="35" name="Shape 35"/>
          <p:cNvSpPr/>
          <p:nvPr/>
        </p:nvSpPr>
        <p:spPr>
          <a:xfrm>
            <a:off x="778520" y="5522119"/>
            <a:ext cx="2837557" cy="189607"/>
          </a:xfrm>
          <a:prstGeom prst="rect">
            <a:avLst/>
          </a:prstGeom>
          <a:noFill/>
        </p:spPr>
        <p:txBody>
          <a:bodyPr anchor="t" wrap="square" tIns="0" bIns="0" lIns="0" rIns="0">
            <a:normAutofit/>
          </a:bodyPr>
          <a:lstStyle/>
          <a:p>
            <a:pPr algn="l">
              <a:lnSpc>
                <a:spcPts val="1493"/>
              </a:lnSpc>
              <a:buNone/>
            </a:pPr>
            <a:r>
              <a:rPr sz="1067" b="1" i="0">
                <a:solidFill>
                  <a:srgbClr val="FFFFFF"/>
                </a:solidFill>
                <a:latin typeface="Poppins Semi"/>
                <a:ea typeface="Poppins Semi"/>
              </a:rPr>
              <a:t>Documenti Organizzati</a:t>
            </a:r>
            <a:endParaRPr lang="en-US"/>
          </a:p>
        </p:txBody>
      </p:sp>
      <p:sp>
        <p:nvSpPr>
          <p:cNvPr id="36" name="Shape 36"/>
          <p:cNvSpPr/>
          <p:nvPr/>
        </p:nvSpPr>
        <p:spPr>
          <a:xfrm>
            <a:off x="778520" y="5776168"/>
            <a:ext cx="2992636" cy="284559"/>
          </a:xfrm>
          <a:prstGeom prst="rect">
            <a:avLst/>
          </a:prstGeom>
          <a:noFill/>
        </p:spPr>
        <p:txBody>
          <a:bodyPr anchor="t" wrap="square" tIns="0" bIns="0" lIns="0" rIns="0">
            <a:normAutofit/>
          </a:bodyPr>
          <a:lstStyle/>
          <a:p>
            <a:pPr algn="l">
              <a:lnSpc>
                <a:spcPts val="1120"/>
              </a:lnSpc>
              <a:buNone/>
            </a:pPr>
            <a:r>
              <a:rPr sz="800" b="0" i="0">
                <a:solidFill>
                  <a:srgbClr val="FFFFFF"/>
                </a:solidFill>
                <a:latin typeface="Poppins"/>
                <a:ea typeface="Poppins"/>
              </a:rPr>
              <a:t>Le diverse tipologie documentali supportano la gestione efficiente e accettabile delle ris</a:t>
            </a:r>
            <a:endParaRPr lang="en-US"/>
          </a:p>
        </p:txBody>
      </p:sp>
      <p:pic>
        <p:nvPicPr>
          <p:cNvPr id="130" name="Presenton Native Image 31" descr=""/>
          <p:cNvPicPr/>
          <p:nvPr/>
        </p:nvPicPr>
        <p:blipFill>
          <a:blip r:embed="rId6" cstate="none"/>
          <a:stretch>
            <a:fillRect/>
          </a:stretch>
        </p:blipFill>
        <p:spPr>
          <a:xfrm>
            <a:off x="4317653" y="2823418"/>
            <a:ext cx="3555950" cy="3558183"/>
          </a:xfrm>
          <a:prstGeom prst="rect">
            <a:avLst/>
          </a:prstGeom>
        </p:spPr>
      </p:pic>
      <p:pic>
        <p:nvPicPr>
          <p:cNvPr id="131" name="Presenton Native SVG Image 32" descr=""/>
          <p:cNvPicPr/>
          <p:nvPr/>
        </p:nvPicPr>
        <p:blipFill>
          <a:blip>
            <a:extLst>
              <a:ext uri="{96DAC541-7B7A-43D3-8B79-37D633B846F1}">
                <asvg:svgBlip xmlns:asvg="http://schemas.microsoft.com/office/drawing/2016/SVG/main" r:embed="rId11"/>
              </a:ext>
            </a:extLst>
          </a:blip>
          <a:stretch>
            <a:fillRect/>
          </a:stretch>
        </p:blipFill>
        <p:spPr>
          <a:xfrm>
            <a:off x="4433739" y="4833789"/>
            <a:ext cx="3323630" cy="1441400"/>
          </a:xfrm>
          <a:prstGeom prst="rect">
            <a:avLst/>
          </a:prstGeom>
        </p:spPr>
      </p:pic>
      <p:sp>
        <p:nvSpPr>
          <p:cNvPr id="37" name="Shape 37"/>
          <p:cNvSpPr/>
          <p:nvPr/>
        </p:nvSpPr>
        <p:spPr>
          <a:xfrm>
            <a:off x="4608761" y="4978450"/>
            <a:ext cx="2839194" cy="474018"/>
          </a:xfrm>
          <a:prstGeom prst="rect">
            <a:avLst/>
          </a:prstGeom>
          <a:noFill/>
        </p:spPr>
        <p:txBody>
          <a:bodyPr anchor="t" wrap="square" tIns="0" bIns="0" lIns="0" rIns="0">
            <a:normAutofit/>
          </a:bodyPr>
          <a:lstStyle/>
          <a:p>
            <a:pPr algn="l">
              <a:lnSpc>
                <a:spcPts val="3733"/>
              </a:lnSpc>
              <a:buNone/>
            </a:pPr>
            <a:r>
              <a:rPr sz="2666" b="1" i="0">
                <a:solidFill>
                  <a:srgbClr val="FFFFFF"/>
                </a:solidFill>
                <a:latin typeface="Poppins Semi"/>
                <a:ea typeface="Poppins Semi"/>
              </a:rPr>
              <a:t>6 cartelle</a:t>
            </a:r>
            <a:endParaRPr lang="en-US"/>
          </a:p>
        </p:txBody>
      </p:sp>
      <p:sp>
        <p:nvSpPr>
          <p:cNvPr id="38" name="Shape 38"/>
          <p:cNvSpPr/>
          <p:nvPr/>
        </p:nvSpPr>
        <p:spPr>
          <a:xfrm>
            <a:off x="4608761" y="5522119"/>
            <a:ext cx="2837557" cy="189607"/>
          </a:xfrm>
          <a:prstGeom prst="rect">
            <a:avLst/>
          </a:prstGeom>
          <a:noFill/>
        </p:spPr>
        <p:txBody>
          <a:bodyPr anchor="t" wrap="square" tIns="0" bIns="0" lIns="0" rIns="0">
            <a:normAutofit/>
          </a:bodyPr>
          <a:lstStyle/>
          <a:p>
            <a:pPr algn="l">
              <a:lnSpc>
                <a:spcPts val="1493"/>
              </a:lnSpc>
              <a:buNone/>
            </a:pPr>
            <a:r>
              <a:rPr sz="1067" b="1" i="0">
                <a:solidFill>
                  <a:srgbClr val="FFFFFF"/>
                </a:solidFill>
                <a:latin typeface="Poppins Semi"/>
                <a:ea typeface="Poppins Semi"/>
              </a:rPr>
              <a:t>Tipi Documentali</a:t>
            </a:r>
            <a:endParaRPr lang="en-US"/>
          </a:p>
        </p:txBody>
      </p:sp>
      <p:sp>
        <p:nvSpPr>
          <p:cNvPr id="39" name="Shape 39"/>
          <p:cNvSpPr/>
          <p:nvPr/>
        </p:nvSpPr>
        <p:spPr>
          <a:xfrm>
            <a:off x="4608761" y="5776168"/>
            <a:ext cx="2992636" cy="284559"/>
          </a:xfrm>
          <a:prstGeom prst="rect">
            <a:avLst/>
          </a:prstGeom>
          <a:noFill/>
        </p:spPr>
        <p:txBody>
          <a:bodyPr anchor="t" wrap="square" tIns="0" bIns="0" lIns="0" rIns="0">
            <a:normAutofit/>
          </a:bodyPr>
          <a:lstStyle/>
          <a:p>
            <a:pPr algn="l">
              <a:lnSpc>
                <a:spcPts val="1120"/>
              </a:lnSpc>
              <a:buNone/>
            </a:pPr>
            <a:r>
              <a:rPr sz="800" b="0" i="0">
                <a:solidFill>
                  <a:srgbClr val="FFFFFF"/>
                </a:solidFill>
                <a:latin typeface="Poppins"/>
                <a:ea typeface="Poppins"/>
              </a:rPr>
              <a:t>Attività di Atti Tribunali, Perizie Tecniche, Planimetrie, Fatture, Corrispondenza Legale</a:t>
            </a:r>
            <a:endParaRPr lang="en-US"/>
          </a:p>
        </p:txBody>
      </p:sp>
      <p:sp>
        <p:nvSpPr>
          <p:cNvPr id="40" name="Shape 40"/>
          <p:cNvSpPr/>
          <p:nvPr/>
        </p:nvSpPr>
        <p:spPr>
          <a:xfrm>
            <a:off x="444401" y="410021"/>
            <a:ext cx="3555206" cy="213271"/>
          </a:xfrm>
          <a:prstGeom prst="rect">
            <a:avLst/>
          </a:prstGeom>
          <a:noFill/>
        </p:spPr>
        <p:txBody>
          <a:bodyPr anchor="t" wrap="square" tIns="0" bIns="0" lIns="0" rIns="0">
            <a:normAutofit/>
          </a:bodyPr>
          <a:lstStyle/>
          <a:p>
            <a:pPr algn="l">
              <a:lnSpc>
                <a:spcPts val="1680"/>
              </a:lnSpc>
              <a:buNone/>
            </a:pPr>
            <a:r>
              <a:rPr sz="1200" b="0" i="0">
                <a:solidFill>
                  <a:srgbClr val="321A00"/>
                </a:solidFill>
                <a:latin typeface="Poppins"/>
                <a:ea typeface="Poppins"/>
              </a:rPr>
              <a:t>info@example.com</a:t>
            </a:r>
            <a:endParaRPr lang="en-US"/>
          </a:p>
        </p:txBody>
      </p:sp>
      <p:sp>
        <p:nvSpPr>
          <p:cNvPr id="41" name="Shape 41"/>
          <p:cNvSpPr/>
          <p:nvPr/>
        </p:nvSpPr>
        <p:spPr>
          <a:xfrm>
            <a:off x="476250" y="1326803"/>
            <a:ext cx="7512546" cy="522684"/>
          </a:xfrm>
          <a:prstGeom prst="rect">
            <a:avLst/>
          </a:prstGeom>
          <a:noFill/>
        </p:spPr>
        <p:txBody>
          <a:bodyPr anchor="t" wrap="square" tIns="0" bIns="0" lIns="0" rIns="0">
            <a:normAutofit/>
          </a:bodyPr>
          <a:lstStyle/>
          <a:p>
            <a:pPr algn="l">
              <a:lnSpc>
                <a:spcPts val="4116"/>
              </a:lnSpc>
              <a:buNone/>
            </a:pPr>
            <a:r>
              <a:rPr sz="4333" b="0" i="0" spc="0">
                <a:solidFill>
                  <a:srgbClr val="321A00"/>
                </a:solidFill>
                <a:latin typeface="Archivo Black"/>
                <a:ea typeface="Archivo Black"/>
              </a:rPr>
              <a:t>Archiviazione e Gli</a:t>
            </a:r>
            <a:endParaRPr lang="en-US"/>
          </a:p>
        </p:txBody>
      </p:sp>
      <p:sp>
        <p:nvSpPr>
          <p:cNvPr id="42" name="Shape 42"/>
          <p:cNvSpPr/>
          <p:nvPr/>
        </p:nvSpPr>
        <p:spPr>
          <a:xfrm>
            <a:off x="476250" y="2017514"/>
            <a:ext cx="7393930" cy="426541"/>
          </a:xfrm>
          <a:prstGeom prst="rect">
            <a:avLst/>
          </a:prstGeom>
          <a:noFill/>
        </p:spPr>
        <p:txBody>
          <a:bodyPr anchor="t" wrap="square" tIns="0" bIns="0" lIns="0" rIns="0">
            <a:normAutofit/>
          </a:bodyPr>
          <a:lstStyle/>
          <a:p>
            <a:pPr algn="l">
              <a:lnSpc>
                <a:spcPts val="1680"/>
              </a:lnSpc>
              <a:buNone/>
            </a:pPr>
            <a:r>
              <a:rPr sz="1200" b="0" i="0">
                <a:solidFill>
                  <a:srgbClr val="321A00"/>
                </a:solidFill>
                <a:latin typeface="Poppins"/>
                <a:ea typeface="Poppins"/>
              </a:rPr>
              <a:t>Organizza le tue informazioni in 6 cartelle: dalla Corrispondenza Legale ai Processi Tributari. Scegli la gestione documentale che funziona meglio per te.</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2" name="Presenton Native SVG Image 33" descr=""/>
          <p:cNvPicPr/>
          <p:nvPr/>
        </p:nvPicPr>
        <p:blipFill>
          <a:blip>
            <a:extLst>
              <a:ext uri="{96DAC541-7B7A-43D3-8B79-37D633B846F1}">
                <asvg:svgBlip xmlns:asvg="http://schemas.microsoft.com/office/drawing/2016/SVG/main" r:embed="rId9"/>
              </a:ext>
            </a:extLst>
          </a:blip>
          <a:stretch>
            <a:fillRect/>
          </a:stretch>
        </p:blipFill>
        <p:spPr>
          <a:xfrm>
            <a:off x="0" y="0"/>
            <a:ext cx="12192000" cy="6858000"/>
          </a:xfrm>
          <a:prstGeom prst="rect">
            <a:avLst/>
          </a:prstGeom>
        </p:spPr>
      </p:pic>
      <p:pic>
        <p:nvPicPr>
          <p:cNvPr id="133" name="Presenton Native SVG Image 34" descr=""/>
          <p:cNvPicPr/>
          <p:nvPr/>
        </p:nvPicPr>
        <p:blipFill>
          <a:blip>
            <a:extLst>
              <a:ext uri="{96DAC541-7B7A-43D3-8B79-37D633B846F1}">
                <asvg:svgBlip xmlns:asvg="http://schemas.microsoft.com/office/drawing/2016/SVG/main" r:embed="rId10"/>
              </a:ext>
            </a:extLst>
          </a:blip>
          <a:stretch>
            <a:fillRect/>
          </a:stretch>
        </p:blipFill>
        <p:spPr>
          <a:xfrm>
            <a:off x="0" y="0"/>
            <a:ext cx="6684913" cy="4317950"/>
          </a:xfrm>
          <a:prstGeom prst="rect">
            <a:avLst/>
          </a:prstGeom>
        </p:spPr>
      </p:pic>
      <p:pic>
        <p:nvPicPr>
          <p:cNvPr id="134" name="Presenton Raster Image 35" descr=""/>
          <p:cNvPicPr/>
          <p:nvPr/>
        </p:nvPicPr>
        <p:blipFill>
          <a:blip r:embed="rId4" cstate="none"/>
          <a:stretch>
            <a:fillRect/>
          </a:stretch>
        </p:blipFill>
        <p:spPr>
          <a:xfrm>
            <a:off x="0" y="0"/>
            <a:ext cx="6684913" cy="4317950"/>
          </a:xfrm>
          <a:prstGeom prst="rect">
            <a:avLst/>
          </a:prstGeom>
        </p:spPr>
      </p:pic>
      <p:sp>
        <p:nvSpPr>
          <p:cNvPr id="43" name="Shape 43"/>
          <p:cNvSpPr/>
          <p:nvPr/>
        </p:nvSpPr>
        <p:spPr>
          <a:xfrm>
            <a:off x="444401" y="410021"/>
            <a:ext cx="4262289" cy="213271"/>
          </a:xfrm>
          <a:prstGeom prst="rect">
            <a:avLst/>
          </a:prstGeom>
          <a:noFill/>
        </p:spPr>
        <p:txBody>
          <a:bodyPr anchor="t" wrap="square" tIns="0" bIns="0" lIns="0" rIns="0">
            <a:normAutofit/>
          </a:bodyPr>
          <a:lstStyle/>
          <a:p>
            <a:pPr algn="l">
              <a:lnSpc>
                <a:spcPts val="1680"/>
              </a:lnSpc>
              <a:buNone/>
            </a:pPr>
            <a:r>
              <a:rPr sz="1200" b="0" i="0">
                <a:solidFill>
                  <a:srgbClr val="FFFFFF"/>
                </a:solidFill>
                <a:latin typeface="Poppins"/>
                <a:ea typeface="Poppins"/>
              </a:rPr>
              <a:t>info@example.com</a:t>
            </a:r>
            <a:endParaRPr lang="en-US"/>
          </a:p>
        </p:txBody>
      </p:sp>
      <p:sp>
        <p:nvSpPr>
          <p:cNvPr id="44" name="Shape 44"/>
          <p:cNvSpPr/>
          <p:nvPr/>
        </p:nvSpPr>
        <p:spPr>
          <a:xfrm>
            <a:off x="476250" y="4705350"/>
            <a:ext cx="4399657" cy="1568053"/>
          </a:xfrm>
          <a:prstGeom prst="rect">
            <a:avLst/>
          </a:prstGeom>
          <a:noFill/>
        </p:spPr>
        <p:txBody>
          <a:bodyPr anchor="t" wrap="square" tIns="0" bIns="0" lIns="0" rIns="0">
            <a:normAutofit/>
          </a:bodyPr>
          <a:lstStyle/>
          <a:p>
            <a:pPr algn="l">
              <a:lnSpc>
                <a:spcPts val="4116"/>
              </a:lnSpc>
              <a:buNone/>
            </a:pPr>
            <a:r>
              <a:rPr sz="4333" b="0" i="0" spc="0">
                <a:solidFill>
                  <a:srgbClr val="321A00"/>
                </a:solidFill>
                <a:latin typeface="Archivo Black"/>
                <a:ea typeface="Archivo Black"/>
              </a:rPr>
              <a:t xml:space="preserve">Scansione Documenti </a:t>
            </a:r>
            <a:r>
              <a:rPr sz="4333" b="0" i="0" spc="0">
                <a:solidFill>
                  <a:srgbClr val="321A00"/>
                </a:solidFill>
                <a:latin typeface="Archivo Black"/>
                <a:ea typeface="Archivo Black"/>
              </a:rPr>
              <a:t>&amp;</a:t>
            </a:r>
            <a:r>
              <a:rPr sz="4333" b="0" i="0" spc="0">
                <a:solidFill>
                  <a:srgbClr val="321A00"/>
                </a:solidFill>
                <a:latin typeface="Archivo Black"/>
                <a:ea typeface="Archivo Black"/>
              </a:rPr>
              <a:t xml:space="preserve"> .p7m</a:t>
            </a:r>
            <a:endParaRPr lang="en-US"/>
          </a:p>
        </p:txBody>
      </p:sp>
      <p:pic>
        <p:nvPicPr>
          <p:cNvPr id="135" name="Presenton Native SVG Image 36" descr=""/>
          <p:cNvPicPr/>
          <p:nvPr/>
        </p:nvPicPr>
        <p:blipFill>
          <a:blip>
            <a:extLst>
              <a:ext uri="{96DAC541-7B7A-43D3-8B79-37D633B846F1}">
                <asvg:svgBlip xmlns:asvg="http://schemas.microsoft.com/office/drawing/2016/SVG/main" r:embed="rId11"/>
              </a:ext>
            </a:extLst>
          </a:blip>
          <a:stretch>
            <a:fillRect/>
          </a:stretch>
        </p:blipFill>
        <p:spPr>
          <a:xfrm>
            <a:off x="5187107" y="3429000"/>
            <a:ext cx="3600152" cy="2189559"/>
          </a:xfrm>
          <a:prstGeom prst="rect">
            <a:avLst/>
          </a:prstGeom>
        </p:spPr>
      </p:pic>
      <p:sp>
        <p:nvSpPr>
          <p:cNvPr id="45" name="Shape 45"/>
          <p:cNvSpPr/>
          <p:nvPr/>
        </p:nvSpPr>
        <p:spPr>
          <a:xfrm>
            <a:off x="5437882" y="3864322"/>
            <a:ext cx="3117503" cy="284113"/>
          </a:xfrm>
          <a:prstGeom prst="rect">
            <a:avLst/>
          </a:prstGeom>
          <a:noFill/>
        </p:spPr>
        <p:txBody>
          <a:bodyPr anchor="t" wrap="square" tIns="0" bIns="0" lIns="0" rIns="0">
            <a:normAutofit/>
          </a:bodyPr>
          <a:lstStyle/>
          <a:p>
            <a:pPr algn="l">
              <a:lnSpc>
                <a:spcPts val="2239"/>
              </a:lnSpc>
              <a:buNone/>
            </a:pPr>
            <a:r>
              <a:rPr sz="1599" b="1" i="0">
                <a:solidFill>
                  <a:srgbClr val="FFFFFF"/>
                </a:solidFill>
                <a:latin typeface="Poppins Semi"/>
                <a:ea typeface="Poppins Semi"/>
              </a:rPr>
              <a:t>Technology for a Seamless,</a:t>
            </a:r>
            <a:endParaRPr lang="en-US"/>
          </a:p>
        </p:txBody>
      </p:sp>
      <p:sp>
        <p:nvSpPr>
          <p:cNvPr id="46" name="Shape 46"/>
          <p:cNvSpPr/>
          <p:nvPr/>
        </p:nvSpPr>
        <p:spPr>
          <a:xfrm>
            <a:off x="5437882" y="4305002"/>
            <a:ext cx="3157538" cy="663178"/>
          </a:xfrm>
          <a:prstGeom prst="rect">
            <a:avLst/>
          </a:prstGeom>
          <a:noFill/>
        </p:spPr>
        <p:txBody>
          <a:bodyPr anchor="t" wrap="square" tIns="0" bIns="0" lIns="0" rIns="0">
            <a:normAutofit/>
          </a:bodyPr>
          <a:lstStyle/>
          <a:p>
            <a:pPr algn="l">
              <a:lnSpc>
                <a:spcPts val="1306"/>
              </a:lnSpc>
              <a:buNone/>
            </a:pPr>
            <a:r>
              <a:rPr sz="933" b="0" i="0">
                <a:solidFill>
                  <a:srgbClr val="FFFFFF"/>
                </a:solidFill>
                <a:latin typeface="Poppins"/>
                <a:ea typeface="Poppins"/>
              </a:rPr>
              <a:t>Sfogliare rapidamente cartelle e atti giudiziari digitali. Con OCR antiriflesso, acquisizione veloce e firma digitale sicura, il processo non potrebbe essere più semplice o rapido.</a:t>
            </a:r>
            <a:endParaRPr lang="en-US"/>
          </a:p>
        </p:txBody>
      </p:sp>
      <p:pic>
        <p:nvPicPr>
          <p:cNvPr id="136" name="Presenton Native SVG Image 37" descr=""/>
          <p:cNvPicPr/>
          <p:nvPr/>
        </p:nvPicPr>
        <p:blipFill>
          <a:blip>
            <a:extLst>
              <a:ext uri="{96DAC541-7B7A-43D3-8B79-37D633B846F1}">
                <asvg:svgBlip xmlns:asvg="http://schemas.microsoft.com/office/drawing/2016/SVG/main" r:embed="rId12"/>
              </a:ext>
            </a:extLst>
          </a:blip>
          <a:stretch>
            <a:fillRect/>
          </a:stretch>
        </p:blipFill>
        <p:spPr>
          <a:xfrm>
            <a:off x="9498062" y="1188393"/>
            <a:ext cx="2223939" cy="1965573"/>
          </a:xfrm>
          <a:prstGeom prst="rect">
            <a:avLst/>
          </a:prstGeom>
        </p:spPr>
      </p:pic>
      <p:sp>
        <p:nvSpPr>
          <p:cNvPr id="47" name="Shape 47"/>
          <p:cNvSpPr/>
          <p:nvPr/>
        </p:nvSpPr>
        <p:spPr>
          <a:xfrm>
            <a:off x="9745861" y="1532334"/>
            <a:ext cx="1847106" cy="474018"/>
          </a:xfrm>
          <a:prstGeom prst="rect">
            <a:avLst/>
          </a:prstGeom>
          <a:noFill/>
        </p:spPr>
        <p:txBody>
          <a:bodyPr anchor="t" wrap="square" tIns="0" bIns="0" lIns="0" rIns="0">
            <a:normAutofit/>
          </a:bodyPr>
          <a:lstStyle/>
          <a:p>
            <a:pPr algn="l">
              <a:lnSpc>
                <a:spcPts val="3733"/>
              </a:lnSpc>
              <a:buNone/>
            </a:pPr>
            <a:r>
              <a:rPr sz="2666" b="1" i="0">
                <a:solidFill>
                  <a:srgbClr val="FFFFFF"/>
                </a:solidFill>
                <a:latin typeface="Poppins Semi"/>
                <a:ea typeface="Poppins Semi"/>
              </a:rPr>
              <a:t>100%</a:t>
            </a:r>
            <a:endParaRPr lang="en-US"/>
          </a:p>
        </p:txBody>
      </p:sp>
      <p:sp>
        <p:nvSpPr>
          <p:cNvPr id="48" name="Shape 48"/>
          <p:cNvSpPr/>
          <p:nvPr/>
        </p:nvSpPr>
        <p:spPr>
          <a:xfrm>
            <a:off x="9745861" y="2151906"/>
            <a:ext cx="1894880" cy="189607"/>
          </a:xfrm>
          <a:prstGeom prst="rect">
            <a:avLst/>
          </a:prstGeom>
          <a:noFill/>
        </p:spPr>
        <p:txBody>
          <a:bodyPr anchor="t" wrap="square" tIns="0" bIns="0" lIns="0" rIns="0">
            <a:normAutofit/>
          </a:bodyPr>
          <a:lstStyle/>
          <a:p>
            <a:pPr algn="l">
              <a:lnSpc>
                <a:spcPts val="1493"/>
              </a:lnSpc>
              <a:buNone/>
            </a:pPr>
            <a:r>
              <a:rPr sz="1067" b="1" i="0">
                <a:solidFill>
                  <a:srgbClr val="FFFFFF"/>
                </a:solidFill>
                <a:latin typeface="Poppins Semi"/>
                <a:ea typeface="Poppins Semi"/>
              </a:rPr>
              <a:t>Acquisizione Risch.</a:t>
            </a:r>
            <a:endParaRPr lang="en-US"/>
          </a:p>
        </p:txBody>
      </p:sp>
      <p:sp>
        <p:nvSpPr>
          <p:cNvPr id="49" name="Shape 49"/>
          <p:cNvSpPr/>
          <p:nvPr/>
        </p:nvSpPr>
        <p:spPr>
          <a:xfrm>
            <a:off x="9745861" y="2481858"/>
            <a:ext cx="1886099" cy="426839"/>
          </a:xfrm>
          <a:prstGeom prst="rect">
            <a:avLst/>
          </a:prstGeom>
          <a:noFill/>
        </p:spPr>
        <p:txBody>
          <a:bodyPr anchor="t" wrap="square" tIns="0" bIns="0" lIns="0" rIns="0">
            <a:normAutofit/>
          </a:bodyPr>
          <a:lstStyle/>
          <a:p>
            <a:pPr algn="l">
              <a:lnSpc>
                <a:spcPts val="1120"/>
              </a:lnSpc>
              <a:buNone/>
            </a:pPr>
            <a:r>
              <a:rPr sz="800" b="0" i="0">
                <a:solidFill>
                  <a:srgbClr val="FFFFFF"/>
                </a:solidFill>
                <a:latin typeface="Poppins"/>
                <a:ea typeface="Poppins"/>
              </a:rPr>
              <a:t>Ricostruisci documenti diversi con precisione e rapidità, garantendo un'accurat</a:t>
            </a:r>
            <a:endParaRPr lang="en-US"/>
          </a:p>
        </p:txBody>
      </p:sp>
      <p:pic>
        <p:nvPicPr>
          <p:cNvPr id="137" name="Presenton Native SVG Image 38" descr=""/>
          <p:cNvPicPr/>
          <p:nvPr/>
        </p:nvPicPr>
        <p:blipFill>
          <a:blip>
            <a:extLst>
              <a:ext uri="{96DAC541-7B7A-43D3-8B79-37D633B846F1}">
                <asvg:svgBlip xmlns:asvg="http://schemas.microsoft.com/office/drawing/2016/SVG/main" r:embed="rId13"/>
              </a:ext>
            </a:extLst>
          </a:blip>
          <a:stretch>
            <a:fillRect/>
          </a:stretch>
        </p:blipFill>
        <p:spPr>
          <a:xfrm>
            <a:off x="6988969" y="1188393"/>
            <a:ext cx="2223939" cy="1965573"/>
          </a:xfrm>
          <a:prstGeom prst="rect">
            <a:avLst/>
          </a:prstGeom>
        </p:spPr>
      </p:pic>
      <p:sp>
        <p:nvSpPr>
          <p:cNvPr id="50" name="Shape 50"/>
          <p:cNvSpPr/>
          <p:nvPr/>
        </p:nvSpPr>
        <p:spPr>
          <a:xfrm>
            <a:off x="7179469" y="1554212"/>
            <a:ext cx="1847106" cy="474018"/>
          </a:xfrm>
          <a:prstGeom prst="rect">
            <a:avLst/>
          </a:prstGeom>
          <a:noFill/>
        </p:spPr>
        <p:txBody>
          <a:bodyPr anchor="t" wrap="square" tIns="0" bIns="0" lIns="0" rIns="0">
            <a:normAutofit/>
          </a:bodyPr>
          <a:lstStyle/>
          <a:p>
            <a:pPr algn="l">
              <a:lnSpc>
                <a:spcPts val="3733"/>
              </a:lnSpc>
              <a:buNone/>
            </a:pPr>
            <a:r>
              <a:rPr sz="2666" b="1" i="0">
                <a:solidFill>
                  <a:srgbClr val="FFFFFF"/>
                </a:solidFill>
                <a:latin typeface="Poppins Semi"/>
                <a:ea typeface="Poppins Semi"/>
              </a:rPr>
              <a:t>0.001s</a:t>
            </a:r>
            <a:endParaRPr lang="en-US"/>
          </a:p>
        </p:txBody>
      </p:sp>
      <p:sp>
        <p:nvSpPr>
          <p:cNvPr id="51" name="Shape 51"/>
          <p:cNvSpPr/>
          <p:nvPr/>
        </p:nvSpPr>
        <p:spPr>
          <a:xfrm>
            <a:off x="7179469" y="2173784"/>
            <a:ext cx="1894880" cy="189607"/>
          </a:xfrm>
          <a:prstGeom prst="rect">
            <a:avLst/>
          </a:prstGeom>
          <a:noFill/>
        </p:spPr>
        <p:txBody>
          <a:bodyPr anchor="t" wrap="square" tIns="0" bIns="0" lIns="0" rIns="0">
            <a:normAutofit/>
          </a:bodyPr>
          <a:lstStyle/>
          <a:p>
            <a:pPr algn="l">
              <a:lnSpc>
                <a:spcPts val="1493"/>
              </a:lnSpc>
              <a:buNone/>
            </a:pPr>
            <a:r>
              <a:rPr sz="1067" b="1" i="0">
                <a:solidFill>
                  <a:srgbClr val="FFFFFF"/>
                </a:solidFill>
                <a:latin typeface="Poppins Semi"/>
                <a:ea typeface="Poppins Semi"/>
              </a:rPr>
              <a:t>Tempo di Tratt.</a:t>
            </a:r>
            <a:endParaRPr lang="en-US"/>
          </a:p>
        </p:txBody>
      </p:sp>
      <p:sp>
        <p:nvSpPr>
          <p:cNvPr id="52" name="Shape 52"/>
          <p:cNvSpPr/>
          <p:nvPr/>
        </p:nvSpPr>
        <p:spPr>
          <a:xfrm>
            <a:off x="7179469" y="2503736"/>
            <a:ext cx="1886099" cy="426839"/>
          </a:xfrm>
          <a:prstGeom prst="rect">
            <a:avLst/>
          </a:prstGeom>
          <a:noFill/>
        </p:spPr>
        <p:txBody>
          <a:bodyPr anchor="t" wrap="square" tIns="0" bIns="0" lIns="0" rIns="0">
            <a:normAutofit/>
          </a:bodyPr>
          <a:lstStyle/>
          <a:p>
            <a:pPr algn="l">
              <a:lnSpc>
                <a:spcPts val="1120"/>
              </a:lnSpc>
              <a:buNone/>
            </a:pPr>
            <a:r>
              <a:rPr sz="800" b="0" i="0">
                <a:solidFill>
                  <a:srgbClr val="FFFFFF"/>
                </a:solidFill>
                <a:latin typeface="Poppins"/>
                <a:ea typeface="Poppins"/>
              </a:rPr>
              <a:t>Processa documenti in tempo reale, riducendo aspettativa e aumentando l'effici</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8" name="Presenton Native SVG Image 39" descr=""/>
          <p:cNvPicPr/>
          <p:nvPr/>
        </p:nvPicPr>
        <p:blipFill>
          <a:blip>
            <a:extLst>
              <a:ext uri="{96DAC541-7B7A-43D3-8B79-37D633B846F1}">
                <asvg:svgBlip xmlns:asvg="http://schemas.microsoft.com/office/drawing/2016/SVG/main" r:embed="rId6"/>
              </a:ext>
            </a:extLst>
          </a:blip>
          <a:stretch>
            <a:fillRect/>
          </a:stretch>
        </p:blipFill>
        <p:spPr>
          <a:xfrm>
            <a:off x="0" y="0"/>
            <a:ext cx="12192000" cy="6858000"/>
          </a:xfrm>
          <a:prstGeom prst="rect">
            <a:avLst/>
          </a:prstGeom>
        </p:spPr>
      </p:pic>
      <p:pic>
        <p:nvPicPr>
          <p:cNvPr id="139" name="Presenton Native Image 40" descr=""/>
          <p:cNvPicPr/>
          <p:nvPr/>
        </p:nvPicPr>
        <p:blipFill>
          <a:blip r:embed="rId3" cstate="none"/>
          <a:stretch>
            <a:fillRect/>
          </a:stretch>
        </p:blipFill>
        <p:spPr>
          <a:xfrm>
            <a:off x="0" y="0"/>
            <a:ext cx="12192000" cy="1666303"/>
          </a:xfrm>
          <a:prstGeom prst="rect">
            <a:avLst/>
          </a:prstGeom>
        </p:spPr>
      </p:pic>
      <p:sp>
        <p:nvSpPr>
          <p:cNvPr id="53" name="Shape 53"/>
          <p:cNvSpPr/>
          <p:nvPr/>
        </p:nvSpPr>
        <p:spPr>
          <a:xfrm>
            <a:off x="444401" y="410021"/>
            <a:ext cx="3820269" cy="213271"/>
          </a:xfrm>
          <a:prstGeom prst="rect">
            <a:avLst/>
          </a:prstGeom>
          <a:noFill/>
        </p:spPr>
        <p:txBody>
          <a:bodyPr anchor="t" wrap="square" tIns="0" bIns="0" lIns="0" rIns="0">
            <a:normAutofit/>
          </a:bodyPr>
          <a:lstStyle/>
          <a:p>
            <a:pPr algn="l">
              <a:lnSpc>
                <a:spcPts val="1680"/>
              </a:lnSpc>
              <a:buNone/>
            </a:pPr>
            <a:r>
              <a:rPr sz="1200" b="0" i="0">
                <a:solidFill>
                  <a:srgbClr val="321A00"/>
                </a:solidFill>
                <a:latin typeface="Poppins"/>
                <a:ea typeface="Poppins"/>
              </a:rPr>
              <a:t>info@company.com</a:t>
            </a:r>
            <a:endParaRPr lang="en-US"/>
          </a:p>
        </p:txBody>
      </p:sp>
      <p:sp>
        <p:nvSpPr>
          <p:cNvPr id="54" name="Shape 54"/>
          <p:cNvSpPr/>
          <p:nvPr/>
        </p:nvSpPr>
        <p:spPr>
          <a:xfrm>
            <a:off x="476250" y="1176784"/>
            <a:ext cx="7416701" cy="1045369"/>
          </a:xfrm>
          <a:prstGeom prst="rect">
            <a:avLst/>
          </a:prstGeom>
          <a:noFill/>
        </p:spPr>
        <p:txBody>
          <a:bodyPr anchor="t" wrap="square" tIns="0" bIns="0" lIns="0" rIns="0">
            <a:normAutofit/>
          </a:bodyPr>
          <a:lstStyle/>
          <a:p>
            <a:pPr algn="l">
              <a:lnSpc>
                <a:spcPts val="4116"/>
              </a:lnSpc>
              <a:buNone/>
            </a:pPr>
            <a:r>
              <a:rPr sz="4333" b="0" i="0" spc="0">
                <a:solidFill>
                  <a:srgbClr val="321A00"/>
                </a:solidFill>
                <a:latin typeface="Archivo Black"/>
                <a:ea typeface="Archivo Black"/>
              </a:rPr>
              <a:t>6. Ragioni di sfondo: continuo elaborazione</a:t>
            </a:r>
            <a:endParaRPr lang="en-US"/>
          </a:p>
        </p:txBody>
      </p:sp>
      <p:pic>
        <p:nvPicPr>
          <p:cNvPr id="140" name="Presenton Native Image 41" descr=""/>
          <p:cNvPicPr/>
          <p:nvPr/>
        </p:nvPicPr>
        <p:blipFill>
          <a:blip r:embed="rId4" cstate="none"/>
          <a:stretch>
            <a:fillRect/>
          </a:stretch>
        </p:blipFill>
        <p:spPr>
          <a:xfrm>
            <a:off x="476250" y="2033588"/>
            <a:ext cx="11239500" cy="48242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PeritoAI Assistente Tecnico &amp; Giudiziario On-Device per Studio Tecnico Restelli &amp; Partner. Innovazi</dc:title>
  <dc:subject>Generated by Presenton export-core</dc:subject>
  <dc:creator>Presenton</dc:creator>
  <cp:lastModifiedBy>Presenton</cp:lastModifiedBy>
  <dcterms:created xsi:type="dcterms:W3CDTF">2026-10-12T11:07:00.086Z</dcterms:created>
  <dcterms:modified xsi:type="dcterms:W3CDTF">2026-10-12T11:07:00.086Z</dcterms:modified>
</cp:coreProperties>
</file>